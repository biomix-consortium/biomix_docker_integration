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media/image2.svg" ContentType="image/svg"/>
  <Override PartName="/ppt/media/image28.svg" ContentType="image/svg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7E76A4-FB60-460D-9CBC-74971CBC37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fini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AA61FB-636F-4C30-9418-92F23C30EA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096510-5719-4AD1-BC00-6145AF650F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&lt;data/ora&gt;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D5F8D0E-980E-443C-A65D-2D2BA7AE30BF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3447000" y="5164560"/>
            <a:ext cx="319356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7226640" y="516456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65D6E0-A2E9-4CE7-9285-EC9FA4B90D68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503640" y="516456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&lt;data/ora&gt;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28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5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2.png"/><Relationship Id="rId1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12.png"/><Relationship Id="rId10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Relationship Id="rId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5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Relationship Id="rId8" Type="http://schemas.openxmlformats.org/officeDocument/2006/relationships/image" Target="../media/image23.png"/><Relationship Id="rId9" Type="http://schemas.openxmlformats.org/officeDocument/2006/relationships/image" Target="../media/image12.png"/><Relationship Id="rId10" Type="http://schemas.openxmlformats.org/officeDocument/2006/relationships/image" Target="../media/image22.png"/><Relationship Id="rId1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6.png"/><Relationship Id="rId8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5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3.png"/><Relationship Id="rId11" Type="http://schemas.openxmlformats.org/officeDocument/2006/relationships/image" Target="../media/image23.png"/><Relationship Id="rId1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svg"/><Relationship Id="rId8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5.png"/><Relationship Id="rId6" Type="http://schemas.openxmlformats.org/officeDocument/2006/relationships/image" Target="../media/image15.png"/><Relationship Id="rId7" Type="http://schemas.openxmlformats.org/officeDocument/2006/relationships/image" Target="../media/image15.png"/><Relationship Id="rId8" Type="http://schemas.openxmlformats.org/officeDocument/2006/relationships/image" Target="../media/image23.png"/><Relationship Id="rId9" Type="http://schemas.openxmlformats.org/officeDocument/2006/relationships/image" Target="../media/image23.png"/><Relationship Id="rId10" Type="http://schemas.openxmlformats.org/officeDocument/2006/relationships/image" Target="../media/image23.png"/><Relationship Id="rId11" Type="http://schemas.openxmlformats.org/officeDocument/2006/relationships/image" Target="../media/image23.png"/><Relationship Id="rId12" Type="http://schemas.openxmlformats.org/officeDocument/2006/relationships/image" Target="../media/image12.png"/><Relationship Id="rId13" Type="http://schemas.openxmlformats.org/officeDocument/2006/relationships/image" Target="../media/image22.png"/><Relationship Id="rId1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12.png"/><Relationship Id="rId10" Type="http://schemas.openxmlformats.org/officeDocument/2006/relationships/image" Target="../media/image34.png"/><Relationship Id="rId11" Type="http://schemas.openxmlformats.org/officeDocument/2006/relationships/image" Target="../media/image34.png"/><Relationship Id="rId1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23.png"/><Relationship Id="rId6" Type="http://schemas.openxmlformats.org/officeDocument/2006/relationships/image" Target="../media/image23.png"/><Relationship Id="rId7" Type="http://schemas.openxmlformats.org/officeDocument/2006/relationships/image" Target="../media/image23.png"/><Relationship Id="rId8" Type="http://schemas.openxmlformats.org/officeDocument/2006/relationships/image" Target="../media/image15.png"/><Relationship Id="rId9" Type="http://schemas.openxmlformats.org/officeDocument/2006/relationships/image" Target="../media/image15.png"/><Relationship Id="rId10" Type="http://schemas.openxmlformats.org/officeDocument/2006/relationships/image" Target="../media/image15.png"/><Relationship Id="rId11" Type="http://schemas.openxmlformats.org/officeDocument/2006/relationships/image" Target="../media/image15.png"/><Relationship Id="rId12" Type="http://schemas.openxmlformats.org/officeDocument/2006/relationships/image" Target="../media/image15.png"/><Relationship Id="rId13" Type="http://schemas.openxmlformats.org/officeDocument/2006/relationships/image" Target="../media/image12.png"/><Relationship Id="rId14" Type="http://schemas.openxmlformats.org/officeDocument/2006/relationships/image" Target="../media/image22.png"/><Relationship Id="rId15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12.png"/><Relationship Id="rId8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9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12.png"/><Relationship Id="rId7" Type="http://schemas.openxmlformats.org/officeDocument/2006/relationships/image" Target="../media/image12.png"/><Relationship Id="rId8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2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12.png"/><Relationship Id="rId7" Type="http://schemas.openxmlformats.org/officeDocument/2006/relationships/image" Target="../media/image12.png"/><Relationship Id="rId8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6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12.png"/><Relationship Id="rId9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12.png"/><Relationship Id="rId8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56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56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57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39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58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56.png"/><Relationship Id="rId6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12.png"/><Relationship Id="rId6" Type="http://schemas.openxmlformats.org/officeDocument/2006/relationships/image" Target="../media/image59.png"/><Relationship Id="rId7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59.png"/><Relationship Id="rId6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12.png"/><Relationship Id="rId8" Type="http://schemas.openxmlformats.org/officeDocument/2006/relationships/image" Target="../media/image59.png"/><Relationship Id="rId9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0.png"/><Relationship Id="rId6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3.png"/><Relationship Id="rId6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64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5.png"/><Relationship Id="rId6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6.png"/><Relationship Id="rId6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8.jpeg"/><Relationship Id="rId6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9.png"/><Relationship Id="rId6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8.jpeg"/><Relationship Id="rId6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hyperlink" Target="https://github.com/BiomiX-consortium/BiomiX2.5/issues" TargetMode="External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061" t="0" r="1793" b="0"/>
          <a:stretch/>
        </p:blipFill>
        <p:spPr>
          <a:xfrm>
            <a:off x="4680000" y="1440"/>
            <a:ext cx="5436000" cy="56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396000" y="395640"/>
            <a:ext cx="478620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25</a:t>
            </a:r>
            <a:r>
              <a:rPr lang="en-US" sz="2400" b="1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th</a:t>
            </a:r>
            <a:r>
              <a:rPr lang="en-US" sz="2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European Conference on Computational Biology (ECCB)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80000" y="1980000"/>
            <a:ext cx="5040360" cy="9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it-IT" sz="18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Democratizing multi-omics data analysis with BiomiX and Nextflow: from single-omics to advanced integration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79640" y="3060000"/>
            <a:ext cx="4500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D62E4E"/>
                </a:solidFill>
                <a:effectLst/>
                <a:uFillTx/>
                <a:latin typeface="Arial"/>
                <a:ea typeface="DejaVu Sans"/>
              </a:rPr>
              <a:t>Presenters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12_0" descr="Une image contenant clipart&#10;&#10;Description générée automatiquement"/>
          <p:cNvPicPr/>
          <p:nvPr/>
        </p:nvPicPr>
        <p:blipFill>
          <a:blip r:embed="rId3"/>
          <a:stretch/>
        </p:blipFill>
        <p:spPr>
          <a:xfrm>
            <a:off x="4523760" y="5006520"/>
            <a:ext cx="1056240" cy="6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Immagine 3_ 2" descr="Immagine che contiene testo&#10;&#10;Descrizione generata automaticamente"/>
          <p:cNvPicPr/>
          <p:nvPr/>
        </p:nvPicPr>
        <p:blipFill>
          <a:blip r:embed="rId4"/>
          <a:stretch/>
        </p:blipFill>
        <p:spPr>
          <a:xfrm>
            <a:off x="1932480" y="5060160"/>
            <a:ext cx="1582920" cy="520920"/>
          </a:xfrm>
          <a:prstGeom prst="rect">
            <a:avLst/>
          </a:prstGeom>
          <a:noFill/>
          <a:ln w="36000">
            <a:noFill/>
          </a:ln>
        </p:spPr>
      </p:pic>
      <p:pic>
        <p:nvPicPr>
          <p:cNvPr id="22" name="Immagine 5_ 2" descr="Immagine che contiene testo, ascia, strumento&#10;&#10;Descrizione generata automaticamente"/>
          <p:cNvPicPr/>
          <p:nvPr/>
        </p:nvPicPr>
        <p:blipFill>
          <a:blip r:embed="rId5"/>
          <a:stretch/>
        </p:blipFill>
        <p:spPr>
          <a:xfrm>
            <a:off x="3804480" y="5056920"/>
            <a:ext cx="574200" cy="53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"/>
          <p:cNvSpPr/>
          <p:nvPr/>
        </p:nvSpPr>
        <p:spPr>
          <a:xfrm>
            <a:off x="-69120" y="3780720"/>
            <a:ext cx="277056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USZ: Center for Experimental Rheumatology, Zurich Switzerland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cristian.iperi@uzh.ch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253800" y="1439280"/>
            <a:ext cx="478620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860D"/>
                </a:solidFill>
                <a:effectLst/>
                <a:uFillTx/>
                <a:latin typeface="Arial"/>
                <a:ea typeface="DejaVu Sans"/>
              </a:rPr>
              <a:t>Tutorial session T13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: 13:45 -17:30</a:t>
            </a:r>
            <a:endParaRPr lang="en-US" sz="1400" b="0" u="none" strike="noStrike">
              <a:solidFill>
                <a:srgbClr val="D01616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8819280" y="5238720"/>
            <a:ext cx="11764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2400" b="1" i="1" u="none" strike="noStrike">
                <a:solidFill>
                  <a:srgbClr val="DDDDDD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1" i="1" u="none" strike="noStrike">
                <a:solidFill>
                  <a:srgbClr val="DDDDDD"/>
                </a:solidFill>
                <a:effectLst/>
                <a:uFillTx/>
                <a:latin typeface="Arial"/>
                <a:ea typeface="DejaVu Sans"/>
              </a:rPr>
              <a:t>03-09-2026</a:t>
            </a:r>
            <a:endParaRPr lang="en-US" sz="1400" b="0" i="1" u="none" strike="noStrike">
              <a:solidFill>
                <a:srgbClr val="DDDDDD"/>
              </a:solidFill>
              <a:effectLst/>
              <a:uFillTx/>
              <a:latin typeface="Arial"/>
            </a:endParaRPr>
          </a:p>
        </p:txBody>
      </p:sp>
      <p:pic>
        <p:nvPicPr>
          <p:cNvPr id="26" name=""/>
          <p:cNvPicPr/>
          <p:nvPr/>
        </p:nvPicPr>
        <p:blipFill>
          <a:blip r:embed="rId6"/>
          <a:stretch/>
        </p:blipFill>
        <p:spPr>
          <a:xfrm>
            <a:off x="157320" y="5127480"/>
            <a:ext cx="1631520" cy="4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/>
          <p:nvPr/>
        </p:nvSpPr>
        <p:spPr>
          <a:xfrm>
            <a:off x="361440" y="3420000"/>
            <a:ext cx="468000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Cristian IPERI, PhD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              Jessica GLIOZZO, PhD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2629440" y="3780720"/>
            <a:ext cx="277056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Fondazione IRCCS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Istituto Nazionale dei Tumori, Milan, Italy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jessica.gliozzo@istitutotumori.mi.it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" name=""/>
          <p:cNvGrpSpPr/>
          <p:nvPr/>
        </p:nvGrpSpPr>
        <p:grpSpPr>
          <a:xfrm>
            <a:off x="5760000" y="5053320"/>
            <a:ext cx="1260000" cy="550080"/>
            <a:chOff x="5760000" y="5053320"/>
            <a:chExt cx="1260000" cy="550080"/>
          </a:xfrm>
        </p:grpSpPr>
        <p:sp>
          <p:nvSpPr>
            <p:cNvPr id="30" name=""/>
            <p:cNvSpPr/>
            <p:nvPr/>
          </p:nvSpPr>
          <p:spPr>
            <a:xfrm>
              <a:off x="5760000" y="5053320"/>
              <a:ext cx="1260000" cy="5400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1" name=""/>
            <p:cNvPicPr/>
            <p:nvPr/>
          </p:nvPicPr>
          <p:blipFill>
            <a:blip r:embed="rId7">
              <a:alphaModFix amt="0"/>
            </a:blip>
            <a:srcRect l="0" t="21181" r="0" b="19724"/>
            <a:stretch/>
          </p:blipFill>
          <p:spPr>
            <a:xfrm>
              <a:off x="5775840" y="5063760"/>
              <a:ext cx="1218600" cy="539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"/>
          <p:cNvSpPr txBox="1"/>
          <p:nvPr/>
        </p:nvSpPr>
        <p:spPr>
          <a:xfrm>
            <a:off x="360000" y="1250640"/>
            <a:ext cx="4860000" cy="409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spAutoFit/>
          </a:bodyPr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Part 2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– Multi-Omics Integration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15:30 – 16:00 | Integration strategies </a:t>
            </a:r>
            <a:r>
              <a:rPr lang="it-IT" sz="10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– Jessica Gliozzo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Early, intermediate and late integration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Overview of MOFA, DIABLO, SNF and NEMO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16:00 – 16:30 – MOFA &amp; DIABLO Tutorials </a:t>
            </a:r>
            <a:r>
              <a:rPr lang="it-IT" sz="10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– Cristian Iperi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Parameter selection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Application to the CLL dataset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Interpretation of results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16:30 – 17:00 – SNF &amp; NEMO Tutorials </a:t>
            </a:r>
            <a:r>
              <a:rPr lang="it-IT" sz="10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– Jessica Gliozzo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Parameter selection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Application to the CLL dataset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Interpretation of results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17:00 – 17:30 –</a:t>
            </a:r>
            <a:r>
              <a:rPr lang="it-IT" sz="10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Final discussion and Q&amp;A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/>
          <p:cNvPicPr/>
          <p:nvPr/>
        </p:nvPicPr>
        <p:blipFill>
          <a:blip r:embed="rId4"/>
          <a:stretch/>
        </p:blipFill>
        <p:spPr>
          <a:xfrm>
            <a:off x="5368320" y="1319040"/>
            <a:ext cx="3604680" cy="3604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7" name=""/>
          <p:cNvGrpSpPr/>
          <p:nvPr/>
        </p:nvGrpSpPr>
        <p:grpSpPr>
          <a:xfrm>
            <a:off x="6660000" y="5347800"/>
            <a:ext cx="3420000" cy="232200"/>
            <a:chOff x="6660000" y="5347800"/>
            <a:chExt cx="3420000" cy="232200"/>
          </a:xfrm>
        </p:grpSpPr>
        <p:sp>
          <p:nvSpPr>
            <p:cNvPr id="38" name=""/>
            <p:cNvSpPr txBox="1"/>
            <p:nvPr/>
          </p:nvSpPr>
          <p:spPr>
            <a:xfrm>
              <a:off x="7020000" y="534780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9" name=""/>
            <p:cNvPicPr/>
            <p:nvPr/>
          </p:nvPicPr>
          <p:blipFill>
            <a:blip r:embed="rId5"/>
            <a:stretch/>
          </p:blipFill>
          <p:spPr>
            <a:xfrm>
              <a:off x="6660000" y="538452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6480" y="-2160"/>
            <a:ext cx="10077840" cy="5667840"/>
          </a:xfrm>
          <a:prstGeom prst="rect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"/>
          <p:cNvSpPr/>
          <p:nvPr/>
        </p:nvSpPr>
        <p:spPr>
          <a:xfrm>
            <a:off x="2051640" y="1115640"/>
            <a:ext cx="662220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Multi-omics data integration, the grail of biology understanding 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"/>
          <p:cNvPicPr/>
          <p:nvPr/>
        </p:nvPicPr>
        <p:blipFill>
          <a:blip r:embed="rId4"/>
          <a:srcRect l="0" t="7520" r="0" b="19049"/>
          <a:stretch/>
        </p:blipFill>
        <p:spPr>
          <a:xfrm>
            <a:off x="179640" y="1799640"/>
            <a:ext cx="5938560" cy="305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"/>
          <p:cNvPicPr/>
          <p:nvPr/>
        </p:nvPicPr>
        <p:blipFill>
          <a:blip r:embed="rId5"/>
          <a:stretch/>
        </p:blipFill>
        <p:spPr>
          <a:xfrm>
            <a:off x="7383240" y="4467240"/>
            <a:ext cx="112680" cy="11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"/>
          <p:cNvPicPr/>
          <p:nvPr/>
        </p:nvPicPr>
        <p:blipFill>
          <a:blip r:embed="rId6"/>
          <a:stretch/>
        </p:blipFill>
        <p:spPr>
          <a:xfrm>
            <a:off x="7383240" y="4155120"/>
            <a:ext cx="112680" cy="11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"/>
          <p:cNvPicPr/>
          <p:nvPr/>
        </p:nvPicPr>
        <p:blipFill>
          <a:blip r:embed="rId7"/>
          <a:stretch/>
        </p:blipFill>
        <p:spPr>
          <a:xfrm>
            <a:off x="7386480" y="2715120"/>
            <a:ext cx="112680" cy="11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"/>
          <p:cNvPicPr/>
          <p:nvPr/>
        </p:nvPicPr>
        <p:blipFill>
          <a:blip r:embed="rId8"/>
          <a:stretch/>
        </p:blipFill>
        <p:spPr>
          <a:xfrm>
            <a:off x="7382160" y="2422440"/>
            <a:ext cx="112680" cy="11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7604280" y="3722400"/>
            <a:ext cx="31305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Different distribution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604280" y="4046760"/>
            <a:ext cx="31305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Curse of dimensionality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7604280" y="4371120"/>
            <a:ext cx="313056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Missing data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"/>
          <p:cNvPicPr/>
          <p:nvPr/>
        </p:nvPicPr>
        <p:blipFill>
          <a:blip r:embed="rId9"/>
          <a:stretch/>
        </p:blipFill>
        <p:spPr>
          <a:xfrm>
            <a:off x="7384320" y="3810600"/>
            <a:ext cx="112680" cy="11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7604280" y="1995120"/>
            <a:ext cx="313056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Observations strengthened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7604280" y="2319480"/>
            <a:ext cx="313056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Holistic interpretation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7604280" y="2643840"/>
            <a:ext cx="313056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Detailed characterization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"/>
          <p:cNvPicPr/>
          <p:nvPr/>
        </p:nvPicPr>
        <p:blipFill>
          <a:blip r:embed="rId10"/>
          <a:stretch/>
        </p:blipFill>
        <p:spPr>
          <a:xfrm>
            <a:off x="7382160" y="2082960"/>
            <a:ext cx="112680" cy="11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"/>
          <p:cNvSpPr/>
          <p:nvPr/>
        </p:nvSpPr>
        <p:spPr>
          <a:xfrm>
            <a:off x="7604280" y="1707120"/>
            <a:ext cx="6127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Pros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604280" y="3398760"/>
            <a:ext cx="7927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Cons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"/>
          <p:cNvGrpSpPr/>
          <p:nvPr/>
        </p:nvGrpSpPr>
        <p:grpSpPr>
          <a:xfrm>
            <a:off x="5300280" y="3518640"/>
            <a:ext cx="2125080" cy="391320"/>
            <a:chOff x="5300280" y="3518640"/>
            <a:chExt cx="2125080" cy="391320"/>
          </a:xfrm>
        </p:grpSpPr>
        <p:sp>
          <p:nvSpPr>
            <p:cNvPr id="61" name=""/>
            <p:cNvSpPr/>
            <p:nvPr/>
          </p:nvSpPr>
          <p:spPr>
            <a:xfrm>
              <a:off x="5300280" y="3518640"/>
              <a:ext cx="360000" cy="360000"/>
            </a:xfrm>
            <a:custGeom>
              <a:avLst/>
              <a:gdLst/>
              <a:ahLst/>
              <a:rect l="l" t="t" r="r" b="b"/>
              <a:pathLst>
                <a:path w="841" h="854">
                  <a:moveTo>
                    <a:pt x="517" y="247"/>
                  </a:moveTo>
                  <a:lnTo>
                    <a:pt x="517" y="415"/>
                  </a:lnTo>
                  <a:lnTo>
                    <a:pt x="264" y="415"/>
                  </a:lnTo>
                  <a:lnTo>
                    <a:pt x="264" y="0"/>
                  </a:lnTo>
                  <a:lnTo>
                    <a:pt x="0" y="0"/>
                  </a:lnTo>
                  <a:lnTo>
                    <a:pt x="0" y="680"/>
                  </a:lnTo>
                  <a:lnTo>
                    <a:pt x="517" y="680"/>
                  </a:lnTo>
                  <a:lnTo>
                    <a:pt x="517" y="854"/>
                  </a:lnTo>
                  <a:lnTo>
                    <a:pt x="841" y="547"/>
                  </a:lnTo>
                  <a:lnTo>
                    <a:pt x="517" y="247"/>
                  </a:lnTo>
                  <a:close/>
                </a:path>
              </a:pathLst>
            </a:cu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 txBox="1"/>
            <p:nvPr/>
          </p:nvSpPr>
          <p:spPr>
            <a:xfrm>
              <a:off x="5629320" y="3619800"/>
              <a:ext cx="1796040" cy="2901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200" b="1" u="none" strike="noStrike">
                  <a:solidFill>
                    <a:srgbClr val="322DE8"/>
                  </a:solidFill>
                  <a:effectLst/>
                  <a:uFillTx/>
                  <a:latin typeface="Arial"/>
                </a:rPr>
                <a:t>Precision Medicine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"/>
          <p:cNvSpPr/>
          <p:nvPr/>
        </p:nvSpPr>
        <p:spPr>
          <a:xfrm>
            <a:off x="4701600" y="3301200"/>
            <a:ext cx="1260000" cy="18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451400" y="3185640"/>
            <a:ext cx="1800000" cy="43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it-IT" sz="900" b="1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Arial"/>
                <a:ea typeface="Microsoft YaHei"/>
              </a:rPr>
              <a:t>Prevention, prognosis, diagnosis, treatment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6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7" name=""/>
            <p:cNvPicPr/>
            <p:nvPr/>
          </p:nvPicPr>
          <p:blipFill>
            <a:blip r:embed="rId11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/>
          <p:nvPr/>
        </p:nvSpPr>
        <p:spPr>
          <a:xfrm>
            <a:off x="1655640" y="1115640"/>
            <a:ext cx="6622200" cy="7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Multi-omics data integration, the grail of biology understanding?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/>
          <p:cNvPicPr/>
          <p:nvPr/>
        </p:nvPicPr>
        <p:blipFill>
          <a:blip r:embed="rId4"/>
          <a:stretch/>
        </p:blipFill>
        <p:spPr>
          <a:xfrm>
            <a:off x="1295640" y="2879280"/>
            <a:ext cx="6937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/>
          <p:cNvPicPr/>
          <p:nvPr/>
        </p:nvPicPr>
        <p:blipFill>
          <a:blip r:embed="rId5"/>
          <a:stretch/>
        </p:blipFill>
        <p:spPr>
          <a:xfrm>
            <a:off x="6540480" y="1756080"/>
            <a:ext cx="6937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"/>
          <p:cNvPicPr/>
          <p:nvPr/>
        </p:nvPicPr>
        <p:blipFill>
          <a:blip r:embed="rId6"/>
          <a:stretch/>
        </p:blipFill>
        <p:spPr>
          <a:xfrm>
            <a:off x="4632840" y="3599280"/>
            <a:ext cx="6937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"/>
          <p:cNvPicPr/>
          <p:nvPr/>
        </p:nvPicPr>
        <p:blipFill>
          <a:blip r:embed="rId7"/>
          <a:stretch/>
        </p:blipFill>
        <p:spPr>
          <a:xfrm>
            <a:off x="2724840" y="1720080"/>
            <a:ext cx="6937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/>
          <p:cNvPicPr/>
          <p:nvPr/>
        </p:nvPicPr>
        <p:blipFill>
          <a:blip r:embed="rId8"/>
          <a:stretch/>
        </p:blipFill>
        <p:spPr>
          <a:xfrm>
            <a:off x="8135280" y="2879280"/>
            <a:ext cx="693720" cy="79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2231640" y="2555640"/>
            <a:ext cx="17629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Disease molecular pattern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791640" y="3815280"/>
            <a:ext cx="19429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Patients stratification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815640" y="4499280"/>
            <a:ext cx="24109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Prognosis-Severity prediction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867280" y="2569680"/>
            <a:ext cx="20509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Drug response prediction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7343280" y="3829320"/>
            <a:ext cx="24109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Identification regulatory networks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067640" y="2159640"/>
            <a:ext cx="17629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Task specific methods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84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5" name=""/>
            <p:cNvPicPr/>
            <p:nvPr/>
          </p:nvPicPr>
          <p:blipFill>
            <a:blip r:embed="rId9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2160" y="0"/>
            <a:ext cx="10077840" cy="5667840"/>
          </a:xfrm>
          <a:prstGeom prst="rect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/>
          <p:cNvPicPr/>
          <p:nvPr/>
        </p:nvPicPr>
        <p:blipFill>
          <a:blip r:embed="rId4"/>
          <a:srcRect l="12988" t="457" r="13802" b="4189"/>
          <a:stretch/>
        </p:blipFill>
        <p:spPr>
          <a:xfrm>
            <a:off x="87120" y="1080000"/>
            <a:ext cx="5852880" cy="41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"/>
          <p:cNvSpPr txBox="1"/>
          <p:nvPr/>
        </p:nvSpPr>
        <p:spPr>
          <a:xfrm>
            <a:off x="6075720" y="1731240"/>
            <a:ext cx="4023720" cy="20883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Key distinction is the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stage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at which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information from different omics is integrated: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1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Early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- omics are merged into a single input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feature space before joint analysis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1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Intermediate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- omic-specific representations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are integrated to construct a joint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representation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Late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- results from separate analyses/models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are combined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877720" y="4987800"/>
            <a:ext cx="420228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it-IT" sz="1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Ritchie MD et al., Nat Rev Genet, 2015; Zitnik M et al., Inf Fusion, 2019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2160" y="1309680"/>
            <a:ext cx="22309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Families of integration methods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4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95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6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0077840" cy="5667840"/>
          </a:xfrm>
          <a:prstGeom prst="rect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/>
          <p:cNvPicPr/>
          <p:nvPr/>
        </p:nvPicPr>
        <p:blipFill>
          <a:blip r:embed="rId4"/>
          <a:srcRect l="12988" t="457" r="13802" b="4189"/>
          <a:stretch/>
        </p:blipFill>
        <p:spPr>
          <a:xfrm>
            <a:off x="24840" y="1080000"/>
            <a:ext cx="5852880" cy="41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"/>
          <p:cNvSpPr/>
          <p:nvPr/>
        </p:nvSpPr>
        <p:spPr>
          <a:xfrm>
            <a:off x="2160" y="1309680"/>
            <a:ext cx="22309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Families of integration methods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77440" y="4945320"/>
            <a:ext cx="1260000" cy="360000"/>
          </a:xfrm>
          <a:prstGeom prst="roundRect">
            <a:avLst>
              <a:gd name="adj" fmla="val 16667"/>
            </a:avLst>
          </a:prstGeom>
          <a:noFill/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5992200" y="1080000"/>
            <a:ext cx="4085640" cy="2239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Early integration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: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Different omics measured on the same samples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Features from the omics are concatenated into a single matrix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A joint downstream analysis is performed on the integrated matrix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1" i="1" u="sng" strike="noStrike">
                <a:solidFill>
                  <a:srgbClr val="03005B"/>
                </a:solidFill>
                <a:effectLst/>
                <a:uFillTx/>
                <a:latin typeface="Arial"/>
              </a:rPr>
              <a:t>Integration occurs at the input level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852880" y="3420000"/>
            <a:ext cx="2203560" cy="1376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it-IT" sz="1000" b="1" u="none" strike="noStrike">
                <a:solidFill>
                  <a:srgbClr val="00A933"/>
                </a:solidFill>
                <a:effectLst/>
                <a:uFillTx/>
                <a:latin typeface="Arial"/>
              </a:rPr>
              <a:t>Pros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Simple and intuitive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Compatible with many standard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ML/statistical methods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Allows joint analysis of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features across omics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7876440" y="3420000"/>
            <a:ext cx="2203560" cy="1508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it-IT" sz="10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Cons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Very high dimensionality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No explicit modeling of cross-omic structure by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concatenation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Sensitive to differences in scale/distribution across omics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Often requires matched samples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108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9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2160" y="0"/>
            <a:ext cx="10077840" cy="5667840"/>
          </a:xfrm>
          <a:prstGeom prst="rect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"/>
          <p:cNvPicPr/>
          <p:nvPr/>
        </p:nvPicPr>
        <p:blipFill>
          <a:blip r:embed="rId4"/>
          <a:srcRect l="12988" t="457" r="13802" b="4189"/>
          <a:stretch/>
        </p:blipFill>
        <p:spPr>
          <a:xfrm>
            <a:off x="87120" y="1080000"/>
            <a:ext cx="5852880" cy="41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160" y="1309680"/>
            <a:ext cx="22309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Families of integration methods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160000" y="4968720"/>
            <a:ext cx="1718280" cy="360000"/>
          </a:xfrm>
          <a:prstGeom prst="roundRect">
            <a:avLst>
              <a:gd name="adj" fmla="val 16667"/>
            </a:avLst>
          </a:prstGeom>
          <a:noFill/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940000" y="1080000"/>
            <a:ext cx="4085640" cy="203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Intermediate integration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: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Omics are retained as separate data layers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Information across layers is integrated while learning or constructing a joint representation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The resulting integrated representation is used for downstream analysis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1" i="1" u="sng" strike="noStrike">
                <a:solidFill>
                  <a:srgbClr val="03005B"/>
                </a:solidFill>
                <a:effectLst/>
                <a:uFillTx/>
                <a:latin typeface="Arial"/>
              </a:rPr>
              <a:t>Integration occurs at the reprentation level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119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0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21" name=""/>
          <p:cNvSpPr txBox="1"/>
          <p:nvPr/>
        </p:nvSpPr>
        <p:spPr>
          <a:xfrm>
            <a:off x="5877720" y="3240000"/>
            <a:ext cx="2203560" cy="194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it-IT" sz="1000" b="1" u="none" strike="noStrike">
                <a:solidFill>
                  <a:srgbClr val="00A933"/>
                </a:solidFill>
                <a:effectLst/>
                <a:uFillTx/>
                <a:latin typeface="Arial"/>
              </a:rPr>
              <a:t>Pros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Can capture relationships across omics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Can accommodate different data types and distributions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May reduce the influence of very high-dimensional feature spaces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Some approaches handle missing samples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874280" y="3240000"/>
            <a:ext cx="2203560" cy="16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it-IT" sz="10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Cons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More complex than simple concatenation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Results depend on how omic-specific representations are constructed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Parameter selection can strongly affect the integrated representation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Interpretation may be less direct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2160" y="0"/>
            <a:ext cx="10077840" cy="5667840"/>
          </a:xfrm>
          <a:prstGeom prst="rect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"/>
          <p:cNvPicPr/>
          <p:nvPr/>
        </p:nvPicPr>
        <p:blipFill>
          <a:blip r:embed="rId4"/>
          <a:srcRect l="12988" t="457" r="13802" b="4189"/>
          <a:stretch/>
        </p:blipFill>
        <p:spPr>
          <a:xfrm>
            <a:off x="87120" y="1080000"/>
            <a:ext cx="5852880" cy="41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"/>
          <p:cNvSpPr/>
          <p:nvPr/>
        </p:nvSpPr>
        <p:spPr>
          <a:xfrm>
            <a:off x="2160" y="1309680"/>
            <a:ext cx="223092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Families of integration methods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4191120" y="5040000"/>
            <a:ext cx="1208880" cy="180000"/>
          </a:xfrm>
          <a:prstGeom prst="roundRect">
            <a:avLst>
              <a:gd name="adj" fmla="val 16667"/>
            </a:avLst>
          </a:prstGeom>
          <a:noFill/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0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131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2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3" name=""/>
          <p:cNvSpPr txBox="1"/>
          <p:nvPr/>
        </p:nvSpPr>
        <p:spPr>
          <a:xfrm>
            <a:off x="5973480" y="1020240"/>
            <a:ext cx="4085640" cy="203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Late integration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: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Each omic layer is analyzed separately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Each analysis produces an omic-specific output (e.g. predictions or clustering solutions)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The separate outputs are then combined and used to derive a consensus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The combined output provides the final result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1" i="1" u="sng" strike="noStrike">
                <a:solidFill>
                  <a:srgbClr val="03005B"/>
                </a:solidFill>
                <a:effectLst/>
                <a:uFillTx/>
                <a:latin typeface="Arial"/>
              </a:rPr>
              <a:t>Integration occurs at the output level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7920000" y="3105720"/>
            <a:ext cx="2203560" cy="1934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it-IT" sz="10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Cons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Cross-omic relationships are not modeled directly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Information may be lost when each omic is reduced to an output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Results depend on the strategy used to combine or weight outputs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Signals that are weak within individual omics but strong jointly may be missed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896440" y="3060000"/>
            <a:ext cx="2203560" cy="2217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it-IT" sz="1000" b="1" u="none" strike="noStrike">
                <a:solidFill>
                  <a:srgbClr val="00A933"/>
                </a:solidFill>
                <a:effectLst/>
                <a:uFillTx/>
                <a:latin typeface="Arial"/>
              </a:rPr>
              <a:t>Pros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Allows omic-specific preprocessing and models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Can accommodate heterogeneous data types and distributions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Individual omic contributions can remain relatively interpretable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Some approaches can more easily handle missing modalities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Separate analyses can be performed independently or in parallel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2160" y="0"/>
            <a:ext cx="10077840" cy="5667840"/>
          </a:xfrm>
          <a:prstGeom prst="rect">
            <a:avLst/>
          </a:prstGeom>
          <a:solidFill>
            <a:srgbClr val="FFFFFF"/>
          </a:solidFill>
          <a:ln w="1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"/>
          <p:cNvSpPr/>
          <p:nvPr/>
        </p:nvSpPr>
        <p:spPr>
          <a:xfrm>
            <a:off x="123480" y="1201680"/>
            <a:ext cx="43765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Classification based on computational methods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142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3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4" name=""/>
          <p:cNvSpPr txBox="1"/>
          <p:nvPr/>
        </p:nvSpPr>
        <p:spPr>
          <a:xfrm>
            <a:off x="94320" y="4987800"/>
            <a:ext cx="471816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adapted from Athieniti E, Spyrou GM, Comput. Struct. Biotechnol. J, 2023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80000" y="1800000"/>
            <a:ext cx="4320000" cy="3287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Most newly developed tools specifically adopt the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intermediate integration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approach.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Methods can be classified based on the 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employed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computational approach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 BiomiX, the following intermediate approaches are implemented: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MOFA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(Multi-Omics Factor Analysis)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DIABLO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(Data Integration Analysis for Biomarker discovery using Latent cOmponents)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SNF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(Similarity Network Fusions)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NEMO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(NEighborhood based Multi-Omics clustering)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"/>
          <p:cNvPicPr/>
          <p:nvPr/>
        </p:nvPicPr>
        <p:blipFill>
          <a:blip r:embed="rId5"/>
          <a:stretch/>
        </p:blipFill>
        <p:spPr>
          <a:xfrm>
            <a:off x="5645160" y="1052640"/>
            <a:ext cx="3894840" cy="416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"/>
          <p:cNvSpPr/>
          <p:nvPr/>
        </p:nvSpPr>
        <p:spPr>
          <a:xfrm>
            <a:off x="7791120" y="3103560"/>
            <a:ext cx="893160" cy="316440"/>
          </a:xfrm>
          <a:prstGeom prst="roundRect">
            <a:avLst>
              <a:gd name="adj" fmla="val 16667"/>
            </a:avLst>
          </a:prstGeom>
          <a:noFill/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8788680" y="2655360"/>
            <a:ext cx="761760" cy="154080"/>
          </a:xfrm>
          <a:prstGeom prst="roundRect">
            <a:avLst>
              <a:gd name="adj" fmla="val 16667"/>
            </a:avLst>
          </a:prstGeom>
          <a:noFill/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7905240" y="1828080"/>
            <a:ext cx="786960" cy="180000"/>
          </a:xfrm>
          <a:prstGeom prst="roundRect">
            <a:avLst>
              <a:gd name="adj" fmla="val 16667"/>
            </a:avLst>
          </a:prstGeom>
          <a:noFill/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9440" y="0"/>
            <a:ext cx="10077840" cy="567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"/>
          <p:cNvSpPr/>
          <p:nvPr/>
        </p:nvSpPr>
        <p:spPr>
          <a:xfrm>
            <a:off x="180000" y="1150920"/>
            <a:ext cx="37800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MOFA </a:t>
            </a:r>
            <a:r>
              <a:rPr lang="en-US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(Argelaguet R, et al. Mol. Syst. Biol., 2018)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5" name=""/>
          <p:cNvGrpSpPr/>
          <p:nvPr/>
        </p:nvGrpSpPr>
        <p:grpSpPr>
          <a:xfrm>
            <a:off x="360000" y="2772000"/>
            <a:ext cx="4320000" cy="1368000"/>
            <a:chOff x="360000" y="2772000"/>
            <a:chExt cx="4320000" cy="1368000"/>
          </a:xfrm>
        </p:grpSpPr>
        <p:sp>
          <p:nvSpPr>
            <p:cNvPr id="156" name=""/>
            <p:cNvSpPr/>
            <p:nvPr/>
          </p:nvSpPr>
          <p:spPr>
            <a:xfrm>
              <a:off x="575640" y="2772000"/>
              <a:ext cx="4104360" cy="47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Data </a:t>
              </a:r>
              <a:r>
                <a:rPr lang="en-US" sz="1400" b="1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integration suited for</a:t>
              </a:r>
              <a:r>
                <a:rPr lang="en-US" sz="14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 Gaussian, Bernoulli and Poisson </a:t>
              </a:r>
              <a:r>
                <a:rPr lang="en-US" sz="1400" b="1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distributions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7" name=""/>
            <p:cNvPicPr/>
            <p:nvPr/>
          </p:nvPicPr>
          <p:blipFill>
            <a:blip r:embed="rId4"/>
            <a:stretch/>
          </p:blipFill>
          <p:spPr>
            <a:xfrm>
              <a:off x="361800" y="285984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8" name=""/>
            <p:cNvSpPr/>
            <p:nvPr/>
          </p:nvSpPr>
          <p:spPr>
            <a:xfrm>
              <a:off x="573840" y="3294360"/>
              <a:ext cx="3849840" cy="48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Missing omics</a:t>
              </a:r>
              <a:r>
                <a:rPr lang="en-US" sz="14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 data handled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9" name=""/>
            <p:cNvPicPr/>
            <p:nvPr/>
          </p:nvPicPr>
          <p:blipFill>
            <a:blip r:embed="rId5"/>
            <a:stretch/>
          </p:blipFill>
          <p:spPr>
            <a:xfrm>
              <a:off x="360000" y="338220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0" name=""/>
            <p:cNvSpPr/>
            <p:nvPr/>
          </p:nvSpPr>
          <p:spPr>
            <a:xfrm>
              <a:off x="573840" y="3651120"/>
              <a:ext cx="3849840" cy="48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400" b="1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Easy MOFA factor interpretation</a:t>
              </a:r>
              <a:r>
                <a:rPr lang="en-US" sz="14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 enabled by sparse weights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1" name=""/>
            <p:cNvPicPr/>
            <p:nvPr/>
          </p:nvPicPr>
          <p:blipFill>
            <a:blip r:embed="rId6"/>
            <a:stretch/>
          </p:blipFill>
          <p:spPr>
            <a:xfrm>
              <a:off x="360000" y="373860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2" name=""/>
          <p:cNvGrpSpPr/>
          <p:nvPr/>
        </p:nvGrpSpPr>
        <p:grpSpPr>
          <a:xfrm>
            <a:off x="360000" y="4320000"/>
            <a:ext cx="3960000" cy="848880"/>
            <a:chOff x="360000" y="4320000"/>
            <a:chExt cx="3960000" cy="848880"/>
          </a:xfrm>
        </p:grpSpPr>
        <p:pic>
          <p:nvPicPr>
            <p:cNvPr id="163" name=""/>
            <p:cNvPicPr/>
            <p:nvPr/>
          </p:nvPicPr>
          <p:blipFill>
            <a:blip r:embed="rId7"/>
            <a:stretch/>
          </p:blipFill>
          <p:spPr>
            <a:xfrm>
              <a:off x="360000" y="443268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4" name=""/>
            <p:cNvSpPr/>
            <p:nvPr/>
          </p:nvSpPr>
          <p:spPr>
            <a:xfrm>
              <a:off x="575640" y="4320000"/>
              <a:ext cx="3744360" cy="48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Low performance on strongly non-linear data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5" name=""/>
            <p:cNvGrpSpPr/>
            <p:nvPr/>
          </p:nvGrpSpPr>
          <p:grpSpPr>
            <a:xfrm>
              <a:off x="360000" y="4680000"/>
              <a:ext cx="3781800" cy="488880"/>
              <a:chOff x="360000" y="4680000"/>
              <a:chExt cx="3781800" cy="488880"/>
            </a:xfrm>
          </p:grpSpPr>
          <p:pic>
            <p:nvPicPr>
              <p:cNvPr id="166" name=""/>
              <p:cNvPicPr/>
              <p:nvPr/>
            </p:nvPicPr>
            <p:blipFill>
              <a:blip r:embed="rId8"/>
              <a:stretch/>
            </p:blipFill>
            <p:spPr>
              <a:xfrm>
                <a:off x="360000" y="4784760"/>
                <a:ext cx="124560" cy="112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67" name=""/>
              <p:cNvSpPr/>
              <p:nvPr/>
            </p:nvSpPr>
            <p:spPr>
              <a:xfrm>
                <a:off x="600840" y="4680000"/>
                <a:ext cx="3540960" cy="48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  <a:spcBef>
                    <a:spcPts val="1191"/>
                  </a:spcBef>
                  <a:spcAft>
                    <a:spcPts val="992"/>
                  </a:spcAft>
                </a:pPr>
                <a:r>
                  <a:rPr lang="en-US" sz="1400" b="0" u="none" strike="noStrike">
                    <a:solidFill>
                      <a:srgbClr val="03005B"/>
                    </a:solidFill>
                    <a:effectLst/>
                    <a:uFillTx/>
                    <a:latin typeface="Arial"/>
                    <a:ea typeface="DejaVu Sans"/>
                  </a:rPr>
                  <a:t>Factor selection depends on user-defined training criteria 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68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169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0" name=""/>
            <p:cNvPicPr/>
            <p:nvPr/>
          </p:nvPicPr>
          <p:blipFill>
            <a:blip r:embed="rId9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71" name=""/>
          <p:cNvPicPr/>
          <p:nvPr/>
        </p:nvPicPr>
        <p:blipFill>
          <a:blip r:embed="rId10"/>
          <a:stretch/>
        </p:blipFill>
        <p:spPr>
          <a:xfrm>
            <a:off x="6005160" y="1052640"/>
            <a:ext cx="3894840" cy="416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9138240" y="2655360"/>
            <a:ext cx="761760" cy="154080"/>
          </a:xfrm>
          <a:prstGeom prst="roundRect">
            <a:avLst>
              <a:gd name="adj" fmla="val 16667"/>
            </a:avLst>
          </a:prstGeom>
          <a:noFill/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80000" y="1650240"/>
            <a:ext cx="5760000" cy="889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MOFA is an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unsupervised Bayesian factor-analysis framework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that learns a low-dimensional representation of multi-omics data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through latent factors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capturing shared and modality-specific sources of variation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.</a:t>
            </a:r>
            <a:r>
              <a: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0" y="0"/>
            <a:ext cx="10077840" cy="567000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8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179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0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1" name=""/>
          <p:cNvGrpSpPr/>
          <p:nvPr/>
        </p:nvGrpSpPr>
        <p:grpSpPr>
          <a:xfrm>
            <a:off x="5380560" y="1260000"/>
            <a:ext cx="4519440" cy="3832200"/>
            <a:chOff x="5380560" y="1260000"/>
            <a:chExt cx="4519440" cy="3832200"/>
          </a:xfrm>
        </p:grpSpPr>
        <p:pic>
          <p:nvPicPr>
            <p:cNvPr id="182" name=""/>
            <p:cNvPicPr/>
            <p:nvPr/>
          </p:nvPicPr>
          <p:blipFill>
            <a:blip r:embed="rId5"/>
            <a:stretch/>
          </p:blipFill>
          <p:spPr>
            <a:xfrm>
              <a:off x="5380560" y="1260000"/>
              <a:ext cx="4519440" cy="3548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3" name=""/>
            <p:cNvSpPr txBox="1"/>
            <p:nvPr/>
          </p:nvSpPr>
          <p:spPr>
            <a:xfrm>
              <a:off x="6362640" y="4860000"/>
              <a:ext cx="31266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it-IT" sz="1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Image from </a:t>
              </a:r>
              <a:r>
                <a:rPr lang="en-US" sz="1000" b="0" i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Microsoft YaHei"/>
                </a:rPr>
                <a:t>Argelaguet R, et al. Mol. Syst. Biol. 2018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4" name=""/>
          <p:cNvSpPr txBox="1"/>
          <p:nvPr/>
        </p:nvSpPr>
        <p:spPr>
          <a:xfrm>
            <a:off x="241560" y="2787840"/>
            <a:ext cx="3943440" cy="9921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Y</a:t>
            </a:r>
            <a:r>
              <a:rPr lang="it-IT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</a:rPr>
              <a:t>(m)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: one data matrix for each omic m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Z: one common factor matrix for the samples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W</a:t>
            </a:r>
            <a:r>
              <a:rPr lang="it-IT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</a:rPr>
              <a:t>(m)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: one loading/weight matrix for each omic m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080000" y="2160000"/>
            <a:ext cx="315648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it-IT" sz="2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Y</a:t>
            </a:r>
            <a:r>
              <a:rPr lang="it-IT" sz="2000" b="0" u="none" strike="noStrike" baseline="33000">
                <a:solidFill>
                  <a:srgbClr val="03005B"/>
                </a:solidFill>
                <a:effectLst/>
                <a:uFillTx/>
                <a:latin typeface="Arial"/>
              </a:rPr>
              <a:t>(m) </a:t>
            </a:r>
            <a:r>
              <a:rPr lang="it-IT" sz="2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≈ ZW</a:t>
            </a:r>
            <a:r>
              <a:rPr lang="it-IT" sz="2000" b="0" u="none" strike="noStrike" baseline="33000">
                <a:solidFill>
                  <a:srgbClr val="03005B"/>
                </a:solidFill>
                <a:effectLst/>
                <a:uFillTx/>
                <a:latin typeface="Arial"/>
              </a:rPr>
              <a:t>(m)T    </a:t>
            </a:r>
            <a:r>
              <a:rPr lang="it-IT" sz="2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 = 1, …, M</a:t>
            </a:r>
            <a:r>
              <a:rPr lang="it-IT" sz="20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200160" y="1260000"/>
            <a:ext cx="5168520" cy="6897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Multiple omics matrices Y</a:t>
            </a:r>
            <a:r>
              <a:rPr lang="it-IT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</a:rPr>
              <a:t>m 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are approximated using a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common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sample-factor matrix Z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, but each omic has its own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feature-weight matrix W</a:t>
            </a:r>
            <a:r>
              <a:rPr lang="it-IT" sz="1400" b="1" u="none" strike="noStrike" baseline="33000">
                <a:solidFill>
                  <a:srgbClr val="03005B"/>
                </a:solidFill>
                <a:effectLst/>
                <a:uFillTx/>
                <a:latin typeface="Arial"/>
              </a:rPr>
              <a:t>(m)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.</a:t>
            </a:r>
            <a:r>
              <a:rPr lang="it-IT" sz="1400" b="1" u="none" strike="noStrike" baseline="3300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80000" y="3979440"/>
            <a:ext cx="5124600" cy="1240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Factor-wise and feature-wise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sparsity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lead to more interpretable solutions!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Each factor can capture variation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shared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across multiple omics or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specific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to a single omic.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"/>
          <p:cNvSpPr/>
          <p:nvPr/>
        </p:nvSpPr>
        <p:spPr>
          <a:xfrm>
            <a:off x="262440" y="1620000"/>
            <a:ext cx="5317560" cy="34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MOFA can be viewed as a 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multi-omics generalization of PCA 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!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It extends this idea using a Bayesian factor model for multiple omics.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PCA     →  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Y ≈ ZW</a:t>
            </a:r>
            <a:r>
              <a:rPr lang="en-US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1 omic → few latent components + weights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MOFA    →  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Y</a:t>
            </a:r>
            <a:r>
              <a:rPr lang="en-US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(1) 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≈ ZW</a:t>
            </a:r>
            <a:r>
              <a:rPr lang="en-US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(1)T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Y</a:t>
            </a:r>
            <a:r>
              <a:rPr lang="en-US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(2)  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≈ ZW</a:t>
            </a:r>
            <a:r>
              <a:rPr lang="en-US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(2)T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 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Y</a:t>
            </a:r>
            <a:r>
              <a:rPr lang="en-US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(3)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≈ ZW</a:t>
            </a:r>
            <a:r>
              <a:rPr lang="en-US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(3)T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multiple omics → few common latent components + omic-specific weights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289080" y="1260000"/>
            <a:ext cx="38509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Making it simple: Intuition behind MOFA</a:t>
            </a:r>
            <a:endParaRPr lang="en-US" sz="14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grpSp>
        <p:nvGrpSpPr>
          <p:cNvPr id="193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194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5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96" name=""/>
          <p:cNvPicPr/>
          <p:nvPr/>
        </p:nvPicPr>
        <p:blipFill>
          <a:blip r:embed="rId5"/>
          <a:stretch/>
        </p:blipFill>
        <p:spPr>
          <a:xfrm>
            <a:off x="6660000" y="1080000"/>
            <a:ext cx="2535840" cy="1692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7" name=""/>
          <p:cNvGrpSpPr/>
          <p:nvPr/>
        </p:nvGrpSpPr>
        <p:grpSpPr>
          <a:xfrm>
            <a:off x="6769080" y="2852640"/>
            <a:ext cx="2590560" cy="2367000"/>
            <a:chOff x="6769080" y="2852640"/>
            <a:chExt cx="2590560" cy="2367000"/>
          </a:xfrm>
        </p:grpSpPr>
        <p:pic>
          <p:nvPicPr>
            <p:cNvPr id="198" name=""/>
            <p:cNvPicPr/>
            <p:nvPr/>
          </p:nvPicPr>
          <p:blipFill>
            <a:blip r:embed="rId6"/>
            <a:srcRect l="0" t="17214" r="69159" b="17607"/>
            <a:stretch/>
          </p:blipFill>
          <p:spPr>
            <a:xfrm>
              <a:off x="6769080" y="3016080"/>
              <a:ext cx="2021400" cy="1912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9" name=""/>
            <p:cNvPicPr/>
            <p:nvPr/>
          </p:nvPicPr>
          <p:blipFill>
            <a:blip r:embed="rId7"/>
            <a:srcRect l="18389" t="88861" r="46774" b="5570"/>
            <a:stretch/>
          </p:blipFill>
          <p:spPr>
            <a:xfrm>
              <a:off x="6840000" y="5040000"/>
              <a:ext cx="2519640" cy="17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0" name=""/>
            <p:cNvSpPr/>
            <p:nvPr/>
          </p:nvSpPr>
          <p:spPr>
            <a:xfrm>
              <a:off x="6769080" y="3780000"/>
              <a:ext cx="180000" cy="3600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"/>
            <p:cNvSpPr/>
            <p:nvPr/>
          </p:nvSpPr>
          <p:spPr>
            <a:xfrm rot="17383200">
              <a:off x="7309800" y="4686120"/>
              <a:ext cx="180000" cy="3600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"/>
            <p:cNvSpPr/>
            <p:nvPr/>
          </p:nvSpPr>
          <p:spPr>
            <a:xfrm rot="13638600">
              <a:off x="8458200" y="4583520"/>
              <a:ext cx="180000" cy="3600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6973200" y="2852640"/>
              <a:ext cx="2206800" cy="32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4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Multi-omics latent space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>
            <a:off x="0" y="-9720"/>
            <a:ext cx="10077840" cy="56678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"/>
          <p:cNvSpPr/>
          <p:nvPr/>
        </p:nvSpPr>
        <p:spPr>
          <a:xfrm>
            <a:off x="215640" y="1080000"/>
            <a:ext cx="410436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DIABLO </a:t>
            </a:r>
            <a:r>
              <a:rPr lang="en-US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(Singh A, et al. Bioinformatics, 2019)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468720" y="3600000"/>
            <a:ext cx="529128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Identifies correlated multi-omics signatures associated with phenotype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468720" y="3327120"/>
            <a:ext cx="529128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Joint integration and supervised feature selection (LASSO-like)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"/>
          <p:cNvPicPr/>
          <p:nvPr/>
        </p:nvPicPr>
        <p:blipFill>
          <a:blip r:embed="rId4"/>
          <a:stretch/>
        </p:blipFill>
        <p:spPr>
          <a:xfrm>
            <a:off x="254880" y="3414960"/>
            <a:ext cx="112680" cy="11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"/>
          <p:cNvPicPr/>
          <p:nvPr/>
        </p:nvPicPr>
        <p:blipFill>
          <a:blip r:embed="rId5"/>
          <a:stretch/>
        </p:blipFill>
        <p:spPr>
          <a:xfrm>
            <a:off x="254880" y="3723480"/>
            <a:ext cx="112680" cy="11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"/>
          <p:cNvSpPr/>
          <p:nvPr/>
        </p:nvSpPr>
        <p:spPr>
          <a:xfrm>
            <a:off x="469080" y="4010040"/>
            <a:ext cx="3850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Sparse weights facilitate interpretation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"/>
          <p:cNvPicPr/>
          <p:nvPr/>
        </p:nvPicPr>
        <p:blipFill>
          <a:blip r:embed="rId6"/>
          <a:stretch/>
        </p:blipFill>
        <p:spPr>
          <a:xfrm>
            <a:off x="255240" y="4133520"/>
            <a:ext cx="112680" cy="112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5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216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17" name=""/>
            <p:cNvPicPr/>
            <p:nvPr/>
          </p:nvPicPr>
          <p:blipFill>
            <a:blip r:embed="rId7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18" name=""/>
          <p:cNvGrpSpPr/>
          <p:nvPr/>
        </p:nvGrpSpPr>
        <p:grpSpPr>
          <a:xfrm>
            <a:off x="6005160" y="1052640"/>
            <a:ext cx="3894840" cy="4167360"/>
            <a:chOff x="6005160" y="1052640"/>
            <a:chExt cx="3894840" cy="4167360"/>
          </a:xfrm>
        </p:grpSpPr>
        <p:pic>
          <p:nvPicPr>
            <p:cNvPr id="219" name=""/>
            <p:cNvPicPr/>
            <p:nvPr/>
          </p:nvPicPr>
          <p:blipFill>
            <a:blip r:embed="rId8"/>
            <a:stretch/>
          </p:blipFill>
          <p:spPr>
            <a:xfrm>
              <a:off x="6005160" y="1052640"/>
              <a:ext cx="3894840" cy="4167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20" name=""/>
            <p:cNvSpPr/>
            <p:nvPr/>
          </p:nvSpPr>
          <p:spPr>
            <a:xfrm>
              <a:off x="8265240" y="1828080"/>
              <a:ext cx="786960" cy="180000"/>
            </a:xfrm>
            <a:prstGeom prst="roundRect">
              <a:avLst>
                <a:gd name="adj" fmla="val 16667"/>
              </a:avLst>
            </a:prstGeom>
            <a:noFill/>
            <a:ln w="360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63000" rIns="108000" bIns="630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"/>
          <p:cNvSpPr txBox="1"/>
          <p:nvPr/>
        </p:nvSpPr>
        <p:spPr>
          <a:xfrm>
            <a:off x="205200" y="1569600"/>
            <a:ext cx="5433480" cy="16308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DIABLO is a supervised extension of sGCCA (sparse Generalized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Canonical Correlation Analysis), that identifies variables while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discriminating phenotypic groups.</a:t>
            </a:r>
            <a:r>
              <a: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Objectives: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1)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maximize the covariance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between linear combinations of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variables (latent components)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2)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maximize groups discrimination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2" name=""/>
          <p:cNvGrpSpPr/>
          <p:nvPr/>
        </p:nvGrpSpPr>
        <p:grpSpPr>
          <a:xfrm>
            <a:off x="242280" y="4377240"/>
            <a:ext cx="6035040" cy="870840"/>
            <a:chOff x="242280" y="4377240"/>
            <a:chExt cx="6035040" cy="870840"/>
          </a:xfrm>
        </p:grpSpPr>
        <p:grpSp>
          <p:nvGrpSpPr>
            <p:cNvPr id="223" name=""/>
            <p:cNvGrpSpPr/>
            <p:nvPr/>
          </p:nvGrpSpPr>
          <p:grpSpPr>
            <a:xfrm>
              <a:off x="250920" y="4377240"/>
              <a:ext cx="3349080" cy="302760"/>
              <a:chOff x="250920" y="4377240"/>
              <a:chExt cx="3349080" cy="302760"/>
            </a:xfrm>
          </p:grpSpPr>
          <p:pic>
            <p:nvPicPr>
              <p:cNvPr id="224" name=""/>
              <p:cNvPicPr/>
              <p:nvPr/>
            </p:nvPicPr>
            <p:blipFill>
              <a:blip r:embed="rId9"/>
              <a:stretch/>
            </p:blipFill>
            <p:spPr>
              <a:xfrm>
                <a:off x="250920" y="4482000"/>
                <a:ext cx="112680" cy="112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25" name=""/>
              <p:cNvSpPr/>
              <p:nvPr/>
            </p:nvSpPr>
            <p:spPr>
              <a:xfrm>
                <a:off x="468720" y="4377240"/>
                <a:ext cx="3131280" cy="302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rgbClr val="03005B"/>
                    </a:solidFill>
                    <a:effectLst/>
                    <a:uFillTx/>
                    <a:latin typeface="Arial"/>
                    <a:ea typeface="DejaVu Sans"/>
                  </a:rPr>
                  <a:t>Low performance on non-linear data  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6" name=""/>
            <p:cNvGrpSpPr/>
            <p:nvPr/>
          </p:nvGrpSpPr>
          <p:grpSpPr>
            <a:xfrm>
              <a:off x="251640" y="4680000"/>
              <a:ext cx="4608360" cy="327240"/>
              <a:chOff x="251640" y="4680000"/>
              <a:chExt cx="4608360" cy="327240"/>
            </a:xfrm>
          </p:grpSpPr>
          <p:pic>
            <p:nvPicPr>
              <p:cNvPr id="227" name=""/>
              <p:cNvPicPr/>
              <p:nvPr/>
            </p:nvPicPr>
            <p:blipFill>
              <a:blip r:embed="rId10"/>
              <a:stretch/>
            </p:blipFill>
            <p:spPr>
              <a:xfrm>
                <a:off x="251640" y="4767120"/>
                <a:ext cx="112680" cy="112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28" name=""/>
              <p:cNvSpPr/>
              <p:nvPr/>
            </p:nvSpPr>
            <p:spPr>
              <a:xfrm>
                <a:off x="433440" y="4680000"/>
                <a:ext cx="4426560" cy="327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rgbClr val="03005B"/>
                    </a:solidFill>
                    <a:effectLst/>
                    <a:uFillTx/>
                    <a:latin typeface="Arial"/>
                    <a:ea typeface="DejaVu Sans"/>
                  </a:rPr>
                  <a:t> Training requires matched samples across omics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229" name=""/>
            <p:cNvPicPr/>
            <p:nvPr/>
          </p:nvPicPr>
          <p:blipFill>
            <a:blip r:embed="rId11"/>
            <a:stretch/>
          </p:blipFill>
          <p:spPr>
            <a:xfrm>
              <a:off x="242280" y="504360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0" name=""/>
            <p:cNvSpPr txBox="1"/>
            <p:nvPr/>
          </p:nvSpPr>
          <p:spPr>
            <a:xfrm>
              <a:off x="437040" y="4957920"/>
              <a:ext cx="5840280" cy="2901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it-IT" sz="1400" b="0" u="none" strike="noStrike">
                  <a:solidFill>
                    <a:srgbClr val="03005B"/>
                  </a:solidFill>
                  <a:effectLst/>
                  <a:uFillTx/>
                  <a:latin typeface="Arial"/>
                </a:rPr>
                <a:t>Some hyperparametes need tuning (n components, n variable to select)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14400" y="2160"/>
            <a:ext cx="10077840" cy="56678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"/>
          <p:cNvSpPr/>
          <p:nvPr/>
        </p:nvSpPr>
        <p:spPr>
          <a:xfrm>
            <a:off x="180000" y="1367640"/>
            <a:ext cx="4320000" cy="31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3005B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For each omic, DIABLO learns a latent component as a 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weighted combination of features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  </a:t>
            </a:r>
            <a:r>
              <a:rPr lang="en-US" sz="18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For sample </a:t>
            </a:r>
            <a:r>
              <a:rPr lang="en-US" sz="1400" b="0" i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and omic </a:t>
            </a:r>
            <a:r>
              <a:rPr lang="en-US" sz="1400" b="0" i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q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, we obtain the component score t</a:t>
            </a:r>
            <a:r>
              <a:rPr lang="en-US" sz="14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4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(q)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as: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t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</a:t>
            </a:r>
            <a:r>
              <a:rPr lang="en-US" sz="18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(q)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​</a:t>
            </a:r>
            <a:r>
              <a:rPr lang="en-US" sz="18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=a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1​</a:t>
            </a:r>
            <a:r>
              <a:rPr lang="en-US" sz="18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(q)</a:t>
            </a:r>
            <a:r>
              <a:rPr lang="en-US" sz="18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x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i1</a:t>
            </a:r>
            <a:r>
              <a:rPr lang="en-US" sz="18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(q)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​</a:t>
            </a:r>
            <a:r>
              <a:rPr lang="en-US" sz="18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+a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2</a:t>
            </a:r>
            <a:r>
              <a:rPr lang="en-US" sz="18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(q)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​</a:t>
            </a:r>
            <a:r>
              <a:rPr lang="en-US" sz="18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x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i2</a:t>
            </a:r>
            <a:r>
              <a:rPr lang="en-US" sz="18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(q)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​</a:t>
            </a:r>
            <a:r>
              <a:rPr lang="en-US" sz="18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+⋯+a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p</a:t>
            </a:r>
            <a:r>
              <a:rPr lang="en-US" sz="18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(q)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​</a:t>
            </a:r>
            <a:r>
              <a:rPr lang="en-US" sz="18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x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ip</a:t>
            </a:r>
            <a:r>
              <a:rPr lang="en-US" sz="1800" b="0" u="none" strike="noStrike" baseline="33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(q)</a:t>
            </a:r>
            <a:r>
              <a:rPr lang="en-US" sz="1800" b="0" u="none" strike="noStrike" baseline="-8000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Sparsity is imposed on the weights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, so many coefficients can become zero (i.e. feature selection)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3005B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Components are </a:t>
            </a: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learned jointly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to maximize association across connected omics while discriminating the phenotype.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237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38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39" name=""/>
          <p:cNvGrpSpPr/>
          <p:nvPr/>
        </p:nvGrpSpPr>
        <p:grpSpPr>
          <a:xfrm>
            <a:off x="4860000" y="1509840"/>
            <a:ext cx="4535280" cy="3350160"/>
            <a:chOff x="4860000" y="1509840"/>
            <a:chExt cx="4535280" cy="3350160"/>
          </a:xfrm>
        </p:grpSpPr>
        <p:pic>
          <p:nvPicPr>
            <p:cNvPr id="240" name=""/>
            <p:cNvPicPr/>
            <p:nvPr/>
          </p:nvPicPr>
          <p:blipFill>
            <a:blip r:embed="rId5"/>
            <a:srcRect l="0" t="5542" r="37312" b="0"/>
            <a:stretch/>
          </p:blipFill>
          <p:spPr>
            <a:xfrm>
              <a:off x="4860000" y="1800000"/>
              <a:ext cx="4535280" cy="3060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1" name=""/>
            <p:cNvSpPr txBox="1"/>
            <p:nvPr/>
          </p:nvSpPr>
          <p:spPr>
            <a:xfrm>
              <a:off x="5760000" y="1509840"/>
              <a:ext cx="3025080" cy="2901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it-IT" sz="1400" b="0" u="none" strike="noStrike">
                  <a:solidFill>
                    <a:srgbClr val="03005B"/>
                  </a:solidFill>
                  <a:effectLst/>
                  <a:uFillTx/>
                  <a:latin typeface="Arial"/>
                </a:rPr>
                <a:t>Each omic has its own components!</a:t>
              </a:r>
              <a:endParaRPr lang="it-IT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"/>
            <p:cNvGrpSpPr/>
            <p:nvPr/>
          </p:nvGrpSpPr>
          <p:grpSpPr>
            <a:xfrm>
              <a:off x="6344280" y="4515840"/>
              <a:ext cx="2380320" cy="196560"/>
              <a:chOff x="6344280" y="4515840"/>
              <a:chExt cx="2380320" cy="196560"/>
            </a:xfrm>
          </p:grpSpPr>
          <p:sp>
            <p:nvSpPr>
              <p:cNvPr id="243" name=""/>
              <p:cNvSpPr txBox="1"/>
              <p:nvPr/>
            </p:nvSpPr>
            <p:spPr>
              <a:xfrm>
                <a:off x="6344280" y="4515840"/>
                <a:ext cx="711360" cy="189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90000" tIns="45000" rIns="90000" bIns="45000" anchor="t">
                <a:spAutoFit/>
              </a:bodyPr>
              <a:p>
                <a:r>
                  <a:rPr lang="it-IT" sz="700" b="0" u="none" strike="noStrike">
                    <a:solidFill>
                      <a:srgbClr val="000000"/>
                    </a:solidFill>
                    <a:effectLst/>
                    <a:highlight>
                      <a:srgbClr val="FFFFFF"/>
                    </a:highlight>
                    <a:uFillTx/>
                    <a:latin typeface="Arial"/>
                  </a:rPr>
                  <a:t>Component 1</a:t>
                </a:r>
                <a:endParaRPr lang="it-IT" sz="7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"/>
              <p:cNvSpPr txBox="1"/>
              <p:nvPr/>
            </p:nvSpPr>
            <p:spPr>
              <a:xfrm>
                <a:off x="7174080" y="4523040"/>
                <a:ext cx="711360" cy="189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90000" tIns="45000" rIns="90000" bIns="45000" anchor="t">
                <a:spAutoFit/>
              </a:bodyPr>
              <a:p>
                <a:r>
                  <a:rPr lang="it-IT" sz="700" b="0" u="none" strike="noStrike">
                    <a:solidFill>
                      <a:srgbClr val="000000"/>
                    </a:solidFill>
                    <a:effectLst/>
                    <a:highlight>
                      <a:srgbClr val="FFFFFF"/>
                    </a:highlight>
                    <a:uFillTx/>
                    <a:latin typeface="Arial"/>
                  </a:rPr>
                  <a:t>Component 2</a:t>
                </a:r>
                <a:endParaRPr lang="it-IT" sz="7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"/>
              <p:cNvSpPr txBox="1"/>
              <p:nvPr/>
            </p:nvSpPr>
            <p:spPr>
              <a:xfrm>
                <a:off x="8013240" y="4520520"/>
                <a:ext cx="711360" cy="189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spAutoFit/>
              </a:bodyPr>
              <a:p>
                <a:r>
                  <a:rPr lang="it-IT" sz="700" b="0" u="none" strike="noStrike">
                    <a:solidFill>
                      <a:srgbClr val="000000"/>
                    </a:solidFill>
                    <a:effectLst/>
                    <a:highlight>
                      <a:srgbClr val="FFFFFF"/>
                    </a:highlight>
                    <a:uFillTx/>
                    <a:latin typeface="Arial"/>
                  </a:rPr>
                  <a:t>Component 3</a:t>
                </a:r>
                <a:endParaRPr lang="it-IT" sz="7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>
            <a:off x="2160" y="2160"/>
            <a:ext cx="10077840" cy="56678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"/>
          <p:cNvSpPr/>
          <p:nvPr/>
        </p:nvSpPr>
        <p:spPr>
          <a:xfrm>
            <a:off x="242640" y="1098000"/>
            <a:ext cx="954000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Dummy matrix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→ provides the supervised frame to select the components discriminating the two conditions</a:t>
            </a:r>
            <a:endParaRPr lang="en-US" sz="14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grpSp>
        <p:nvGrpSpPr>
          <p:cNvPr id="251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252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53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54" name=""/>
          <p:cNvSpPr/>
          <p:nvPr/>
        </p:nvSpPr>
        <p:spPr>
          <a:xfrm>
            <a:off x="242640" y="1386720"/>
            <a:ext cx="953964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Design matrix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→  defines how strongly we expect pairs of omics to be related (high assoc. = 1, low assoc. = 0)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5" name=""/>
          <p:cNvGraphicFramePr/>
          <p:nvPr/>
        </p:nvGraphicFramePr>
        <p:xfrm>
          <a:off x="7659360" y="3960360"/>
          <a:ext cx="2121120" cy="1105560"/>
        </p:xfrm>
        <a:graphic>
          <a:graphicData uri="http://schemas.openxmlformats.org/drawingml/2006/table">
            <a:tbl>
              <a:tblPr/>
              <a:tblGrid>
                <a:gridCol w="819360"/>
                <a:gridCol w="471960"/>
                <a:gridCol w="830160"/>
              </a:tblGrid>
              <a:tr h="41364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RNA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Methylome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RNA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0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0.8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59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Methylome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6" name=""/>
          <p:cNvSpPr txBox="1"/>
          <p:nvPr/>
        </p:nvSpPr>
        <p:spPr>
          <a:xfrm>
            <a:off x="8100000" y="3643920"/>
            <a:ext cx="13600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Design matrix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7" name=""/>
          <p:cNvGraphicFramePr/>
          <p:nvPr/>
        </p:nvGraphicFramePr>
        <p:xfrm>
          <a:off x="7518960" y="2201760"/>
          <a:ext cx="2352240" cy="1399320"/>
        </p:xfrm>
        <a:graphic>
          <a:graphicData uri="http://schemas.openxmlformats.org/drawingml/2006/table">
            <a:tbl>
              <a:tblPr/>
              <a:tblGrid>
                <a:gridCol w="779760"/>
                <a:gridCol w="771840"/>
                <a:gridCol w="801000"/>
              </a:tblGrid>
              <a:tr h="2800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Samples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ED84F5"/>
                          </a:solidFill>
                          <a:effectLst/>
                          <a:uFillTx/>
                          <a:latin typeface="Arial"/>
                        </a:rPr>
                        <a:t>Cond. 1</a:t>
                      </a:r>
                      <a:endParaRPr lang="it-IT" sz="1400" b="0" u="none" strike="noStrike">
                        <a:solidFill>
                          <a:srgbClr val="ED84F5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5EB91E"/>
                          </a:solidFill>
                          <a:effectLst/>
                          <a:uFillTx/>
                          <a:latin typeface="Arial"/>
                        </a:rPr>
                        <a:t>Cond. 2</a:t>
                      </a:r>
                      <a:endParaRPr lang="it-IT" sz="1400" b="0" u="none" strike="noStrike">
                        <a:solidFill>
                          <a:srgbClr val="5EB91E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</a:t>
                      </a:r>
                      <a:r>
                        <a:rPr lang="it-IT" sz="1400" b="0" u="none" strike="noStrike" baseline="-8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</a:t>
                      </a:r>
                      <a:r>
                        <a:rPr lang="it-IT" sz="1400" b="0" u="none" strike="noStrike" baseline="-8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00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793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</a:t>
                      </a:r>
                      <a:r>
                        <a:rPr lang="it-IT" sz="1400" b="0" u="none" strike="noStrike" baseline="-8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it-IT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it-IT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8" name=""/>
          <p:cNvSpPr txBox="1"/>
          <p:nvPr/>
        </p:nvSpPr>
        <p:spPr>
          <a:xfrm>
            <a:off x="7940520" y="1911600"/>
            <a:ext cx="1419480" cy="2901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Dummy matrix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9" name=""/>
          <p:cNvGrpSpPr/>
          <p:nvPr/>
        </p:nvGrpSpPr>
        <p:grpSpPr>
          <a:xfrm>
            <a:off x="360000" y="1800000"/>
            <a:ext cx="6294240" cy="3240000"/>
            <a:chOff x="360000" y="1800000"/>
            <a:chExt cx="6294240" cy="3240000"/>
          </a:xfrm>
        </p:grpSpPr>
        <p:grpSp>
          <p:nvGrpSpPr>
            <p:cNvPr id="260" name=""/>
            <p:cNvGrpSpPr/>
            <p:nvPr/>
          </p:nvGrpSpPr>
          <p:grpSpPr>
            <a:xfrm>
              <a:off x="360000" y="1800000"/>
              <a:ext cx="4535280" cy="3240000"/>
              <a:chOff x="360000" y="1800000"/>
              <a:chExt cx="4535280" cy="3240000"/>
            </a:xfrm>
          </p:grpSpPr>
          <p:pic>
            <p:nvPicPr>
              <p:cNvPr id="261" name=""/>
              <p:cNvPicPr/>
              <p:nvPr/>
            </p:nvPicPr>
            <p:blipFill>
              <a:blip r:embed="rId5"/>
              <a:srcRect l="0" t="0" r="37312" b="0"/>
              <a:stretch/>
            </p:blipFill>
            <p:spPr>
              <a:xfrm>
                <a:off x="360000" y="1800000"/>
                <a:ext cx="4535280" cy="3240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62" name=""/>
              <p:cNvSpPr/>
              <p:nvPr/>
            </p:nvSpPr>
            <p:spPr>
              <a:xfrm>
                <a:off x="1042560" y="3780000"/>
                <a:ext cx="3348000" cy="0"/>
              </a:xfrm>
              <a:prstGeom prst="line">
                <a:avLst/>
              </a:prstGeom>
              <a:ln w="18000">
                <a:solidFill>
                  <a:srgbClr val="302709"/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000" tIns="-54000" rIns="99000" bIns="-54000" anchor="ctr">
                <a:noAutofit/>
              </a:bodyPr>
              <a:p>
                <a:endPara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"/>
              <p:cNvSpPr/>
              <p:nvPr/>
            </p:nvSpPr>
            <p:spPr>
              <a:xfrm>
                <a:off x="1582560" y="2844000"/>
                <a:ext cx="3132720" cy="0"/>
              </a:xfrm>
              <a:prstGeom prst="line">
                <a:avLst/>
              </a:prstGeom>
              <a:ln w="18000">
                <a:solidFill>
                  <a:srgbClr val="302709"/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000" tIns="-54000" rIns="99000" bIns="-54000" anchor="ctr">
                <a:noAutofit/>
              </a:bodyPr>
              <a:p>
                <a:endPara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"/>
              <p:cNvSpPr/>
              <p:nvPr/>
            </p:nvSpPr>
            <p:spPr>
              <a:xfrm flipV="1">
                <a:off x="1726560" y="2952000"/>
                <a:ext cx="324000" cy="720000"/>
              </a:xfrm>
              <a:prstGeom prst="line">
                <a:avLst/>
              </a:prstGeom>
              <a:ln w="18000">
                <a:solidFill>
                  <a:srgbClr val="3465A4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000" tIns="54000" rIns="99000" bIns="54000" anchor="ctr">
                <a:noAutofit/>
              </a:bodyPr>
              <a:p>
                <a:endPara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"/>
              <p:cNvSpPr/>
              <p:nvPr/>
            </p:nvSpPr>
            <p:spPr>
              <a:xfrm flipV="1">
                <a:off x="3958560" y="2952000"/>
                <a:ext cx="324000" cy="720000"/>
              </a:xfrm>
              <a:prstGeom prst="line">
                <a:avLst/>
              </a:prstGeom>
              <a:ln w="18000">
                <a:solidFill>
                  <a:srgbClr val="3465A4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9000" tIns="54000" rIns="99000" bIns="54000" anchor="ctr">
                <a:noAutofit/>
              </a:bodyPr>
              <a:p>
                <a:endPara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66" name=""/>
            <p:cNvSpPr txBox="1"/>
            <p:nvPr/>
          </p:nvSpPr>
          <p:spPr>
            <a:xfrm>
              <a:off x="5040000" y="2160000"/>
              <a:ext cx="1614240" cy="2520000"/>
            </a:xfrm>
            <a:prstGeom prst="rect">
              <a:avLst/>
            </a:prstGeom>
            <a:blipFill rotWithShape="0"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 l="7058" t="7271" r="26419" b="9612"/>
              <a:stretch/>
            </a:blipFill>
            <a:ln w="0">
              <a:noFill/>
            </a:ln>
          </p:spPr>
          <p:txBody>
            <a:bodyPr lIns="90000" tIns="45000" rIns="90000" bIns="45000" anchor="ctr" anchorCtr="1">
              <a:noAutofit/>
            </a:bodyPr>
            <a:p>
              <a:pPr algn="ctr"/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                          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67" name=""/>
            <p:cNvGrpSpPr/>
            <p:nvPr/>
          </p:nvGrpSpPr>
          <p:grpSpPr>
            <a:xfrm>
              <a:off x="1847520" y="4700520"/>
              <a:ext cx="2380320" cy="196560"/>
              <a:chOff x="1847520" y="4700520"/>
              <a:chExt cx="2380320" cy="196560"/>
            </a:xfrm>
          </p:grpSpPr>
          <p:sp>
            <p:nvSpPr>
              <p:cNvPr id="268" name=""/>
              <p:cNvSpPr txBox="1"/>
              <p:nvPr/>
            </p:nvSpPr>
            <p:spPr>
              <a:xfrm>
                <a:off x="1847520" y="4700520"/>
                <a:ext cx="711360" cy="189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90000" tIns="45000" rIns="90000" bIns="45000" anchor="t">
                <a:spAutoFit/>
              </a:bodyPr>
              <a:p>
                <a:r>
                  <a:rPr lang="it-IT" sz="700" b="0" u="none" strike="noStrike">
                    <a:solidFill>
                      <a:srgbClr val="000000"/>
                    </a:solidFill>
                    <a:effectLst/>
                    <a:highlight>
                      <a:srgbClr val="FFFFFF"/>
                    </a:highlight>
                    <a:uFillTx/>
                    <a:latin typeface="Arial"/>
                  </a:rPr>
                  <a:t>Component 1</a:t>
                </a:r>
                <a:endParaRPr lang="it-IT" sz="7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"/>
              <p:cNvSpPr txBox="1"/>
              <p:nvPr/>
            </p:nvSpPr>
            <p:spPr>
              <a:xfrm>
                <a:off x="2677320" y="4707720"/>
                <a:ext cx="711360" cy="189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90000" tIns="45000" rIns="90000" bIns="45000" anchor="t">
                <a:spAutoFit/>
              </a:bodyPr>
              <a:p>
                <a:r>
                  <a:rPr lang="it-IT" sz="700" b="0" u="none" strike="noStrike">
                    <a:solidFill>
                      <a:srgbClr val="000000"/>
                    </a:solidFill>
                    <a:effectLst/>
                    <a:highlight>
                      <a:srgbClr val="FFFFFF"/>
                    </a:highlight>
                    <a:uFillTx/>
                    <a:latin typeface="Arial"/>
                  </a:rPr>
                  <a:t>Component 2</a:t>
                </a:r>
                <a:endParaRPr lang="it-IT" sz="7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"/>
              <p:cNvSpPr txBox="1"/>
              <p:nvPr/>
            </p:nvSpPr>
            <p:spPr>
              <a:xfrm>
                <a:off x="3516480" y="4705200"/>
                <a:ext cx="711360" cy="1893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>
                <a:spAutoFit/>
              </a:bodyPr>
              <a:p>
                <a:r>
                  <a:rPr lang="it-IT" sz="700" b="0" u="none" strike="noStrike">
                    <a:solidFill>
                      <a:srgbClr val="000000"/>
                    </a:solidFill>
                    <a:effectLst/>
                    <a:highlight>
                      <a:srgbClr val="FFFFFF"/>
                    </a:highlight>
                    <a:uFillTx/>
                    <a:latin typeface="Arial"/>
                  </a:rPr>
                  <a:t>Component 3</a:t>
                </a:r>
                <a:endParaRPr lang="it-IT" sz="7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>
            <a:off x="2160" y="0"/>
            <a:ext cx="10112040" cy="56728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pic>
        <p:nvPicPr>
          <p:cNvPr id="272" name=""/>
          <p:cNvPicPr/>
          <p:nvPr/>
        </p:nvPicPr>
        <p:blipFill>
          <a:blip r:embed="rId1"/>
          <a:stretch/>
        </p:blipFill>
        <p:spPr>
          <a:xfrm>
            <a:off x="216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"/>
          <p:cNvSpPr/>
          <p:nvPr/>
        </p:nvSpPr>
        <p:spPr>
          <a:xfrm>
            <a:off x="180000" y="1080000"/>
            <a:ext cx="576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Similarity Network Fusion (SNF) </a:t>
            </a:r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(Wang B, et al., Nature Methods, 2014)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6" name=""/>
          <p:cNvGrpSpPr/>
          <p:nvPr/>
        </p:nvGrpSpPr>
        <p:grpSpPr>
          <a:xfrm>
            <a:off x="360000" y="2443680"/>
            <a:ext cx="3420000" cy="1269000"/>
            <a:chOff x="360000" y="2443680"/>
            <a:chExt cx="3420000" cy="1269000"/>
          </a:xfrm>
        </p:grpSpPr>
        <p:grpSp>
          <p:nvGrpSpPr>
            <p:cNvPr id="277" name=""/>
            <p:cNvGrpSpPr/>
            <p:nvPr/>
          </p:nvGrpSpPr>
          <p:grpSpPr>
            <a:xfrm>
              <a:off x="361800" y="2443680"/>
              <a:ext cx="3058200" cy="291240"/>
              <a:chOff x="361800" y="2443680"/>
              <a:chExt cx="3058200" cy="291240"/>
            </a:xfrm>
          </p:grpSpPr>
          <p:sp>
            <p:nvSpPr>
              <p:cNvPr id="278" name=""/>
              <p:cNvSpPr/>
              <p:nvPr/>
            </p:nvSpPr>
            <p:spPr>
              <a:xfrm>
                <a:off x="575640" y="2443680"/>
                <a:ext cx="2844360" cy="291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rgbClr val="03005B"/>
                    </a:solidFill>
                    <a:effectLst/>
                    <a:uFillTx/>
                    <a:latin typeface="Arial"/>
                    <a:ea typeface="DejaVu Sans"/>
                  </a:rPr>
                  <a:t>Unsupervised subtype discovery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79" name=""/>
              <p:cNvPicPr/>
              <p:nvPr/>
            </p:nvPicPr>
            <p:blipFill>
              <a:blip r:embed="rId4"/>
              <a:stretch/>
            </p:blipFill>
            <p:spPr>
              <a:xfrm>
                <a:off x="361800" y="2532960"/>
                <a:ext cx="112680" cy="1126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80" name=""/>
            <p:cNvGrpSpPr/>
            <p:nvPr/>
          </p:nvGrpSpPr>
          <p:grpSpPr>
            <a:xfrm>
              <a:off x="360000" y="3168360"/>
              <a:ext cx="2880000" cy="333360"/>
              <a:chOff x="360000" y="3168360"/>
              <a:chExt cx="2880000" cy="333360"/>
            </a:xfrm>
          </p:grpSpPr>
          <p:sp>
            <p:nvSpPr>
              <p:cNvPr id="281" name=""/>
              <p:cNvSpPr/>
              <p:nvPr/>
            </p:nvSpPr>
            <p:spPr>
              <a:xfrm>
                <a:off x="573840" y="3168360"/>
                <a:ext cx="266616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rgbClr val="03005B"/>
                    </a:solidFill>
                    <a:effectLst/>
                    <a:uFillTx/>
                    <a:latin typeface="Arial"/>
                    <a:ea typeface="DejaVu Sans"/>
                  </a:rPr>
                  <a:t>Capture local/nonlinear relationships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82" name=""/>
              <p:cNvPicPr/>
              <p:nvPr/>
            </p:nvPicPr>
            <p:blipFill>
              <a:blip r:embed="rId5"/>
              <a:stretch/>
            </p:blipFill>
            <p:spPr>
              <a:xfrm>
                <a:off x="360000" y="3255840"/>
                <a:ext cx="112680" cy="1126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83" name=""/>
            <p:cNvGrpSpPr/>
            <p:nvPr/>
          </p:nvGrpSpPr>
          <p:grpSpPr>
            <a:xfrm>
              <a:off x="360000" y="3454920"/>
              <a:ext cx="1980000" cy="257760"/>
              <a:chOff x="360000" y="3454920"/>
              <a:chExt cx="1980000" cy="257760"/>
            </a:xfrm>
          </p:grpSpPr>
          <p:pic>
            <p:nvPicPr>
              <p:cNvPr id="284" name=""/>
              <p:cNvPicPr/>
              <p:nvPr/>
            </p:nvPicPr>
            <p:blipFill>
              <a:blip r:embed="rId6"/>
              <a:stretch/>
            </p:blipFill>
            <p:spPr>
              <a:xfrm>
                <a:off x="360000" y="3532680"/>
                <a:ext cx="112680" cy="112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85" name=""/>
              <p:cNvSpPr/>
              <p:nvPr/>
            </p:nvSpPr>
            <p:spPr>
              <a:xfrm>
                <a:off x="575640" y="3454920"/>
                <a:ext cx="1764360" cy="257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rgbClr val="03005B"/>
                    </a:solidFill>
                    <a:effectLst/>
                    <a:uFillTx/>
                    <a:latin typeface="Arial"/>
                    <a:ea typeface="DejaVu Sans"/>
                  </a:rPr>
                  <a:t>Network interpretation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6" name=""/>
            <p:cNvGrpSpPr/>
            <p:nvPr/>
          </p:nvGrpSpPr>
          <p:grpSpPr>
            <a:xfrm>
              <a:off x="360000" y="2734920"/>
              <a:ext cx="3420000" cy="488880"/>
              <a:chOff x="360000" y="2734920"/>
              <a:chExt cx="3420000" cy="488880"/>
            </a:xfrm>
          </p:grpSpPr>
          <p:sp>
            <p:nvSpPr>
              <p:cNvPr id="287" name=""/>
              <p:cNvSpPr/>
              <p:nvPr/>
            </p:nvSpPr>
            <p:spPr>
              <a:xfrm>
                <a:off x="575640" y="2734920"/>
                <a:ext cx="3204360" cy="48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rgbClr val="03005B"/>
                    </a:solidFill>
                    <a:effectLst/>
                    <a:uFillTx/>
                    <a:latin typeface="Arial"/>
                    <a:ea typeface="DejaVu Sans"/>
                  </a:rPr>
                  <a:t>High-dimensional features into an integrated sample-sample network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88" name=""/>
              <p:cNvPicPr/>
              <p:nvPr/>
            </p:nvPicPr>
            <p:blipFill>
              <a:blip r:embed="rId7"/>
              <a:stretch/>
            </p:blipFill>
            <p:spPr>
              <a:xfrm>
                <a:off x="360000" y="2837160"/>
                <a:ext cx="112680" cy="1126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grpSp>
        <p:nvGrpSpPr>
          <p:cNvPr id="289" name=""/>
          <p:cNvGrpSpPr/>
          <p:nvPr/>
        </p:nvGrpSpPr>
        <p:grpSpPr>
          <a:xfrm>
            <a:off x="360000" y="3813480"/>
            <a:ext cx="3240000" cy="1226520"/>
            <a:chOff x="360000" y="3813480"/>
            <a:chExt cx="3240000" cy="1226520"/>
          </a:xfrm>
        </p:grpSpPr>
        <p:pic>
          <p:nvPicPr>
            <p:cNvPr id="290" name=""/>
            <p:cNvPicPr/>
            <p:nvPr/>
          </p:nvPicPr>
          <p:blipFill>
            <a:blip r:embed="rId8"/>
            <a:stretch/>
          </p:blipFill>
          <p:spPr>
            <a:xfrm>
              <a:off x="360000" y="391824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1" name=""/>
            <p:cNvSpPr/>
            <p:nvPr/>
          </p:nvSpPr>
          <p:spPr>
            <a:xfrm>
              <a:off x="577800" y="3813480"/>
              <a:ext cx="2484360" cy="48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Limited biomarker interpretation</a:t>
              </a:r>
              <a:r>
                <a:rPr lang="en-US" sz="14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92" name=""/>
            <p:cNvPicPr/>
            <p:nvPr/>
          </p:nvPicPr>
          <p:blipFill>
            <a:blip r:embed="rId9"/>
            <a:stretch/>
          </p:blipFill>
          <p:spPr>
            <a:xfrm>
              <a:off x="362160" y="420660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3" name=""/>
            <p:cNvSpPr/>
            <p:nvPr/>
          </p:nvSpPr>
          <p:spPr>
            <a:xfrm>
              <a:off x="570600" y="4109400"/>
              <a:ext cx="3024000" cy="32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Arbitrary choice of hyperparameters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94" name=""/>
            <p:cNvPicPr/>
            <p:nvPr/>
          </p:nvPicPr>
          <p:blipFill>
            <a:blip r:embed="rId10"/>
            <a:stretch/>
          </p:blipFill>
          <p:spPr>
            <a:xfrm>
              <a:off x="367560" y="448416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5" name=""/>
            <p:cNvSpPr/>
            <p:nvPr/>
          </p:nvSpPr>
          <p:spPr>
            <a:xfrm>
              <a:off x="576000" y="4386960"/>
              <a:ext cx="3024000" cy="32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No missing-data handling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"/>
            <p:cNvSpPr/>
            <p:nvPr/>
          </p:nvSpPr>
          <p:spPr>
            <a:xfrm>
              <a:off x="568440" y="4713480"/>
              <a:ext cx="2851560" cy="32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Poor scaling with number of samples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97" name=""/>
            <p:cNvPicPr/>
            <p:nvPr/>
          </p:nvPicPr>
          <p:blipFill>
            <a:blip r:embed="rId11"/>
            <a:stretch/>
          </p:blipFill>
          <p:spPr>
            <a:xfrm>
              <a:off x="360000" y="478080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98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299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00" name=""/>
            <p:cNvPicPr/>
            <p:nvPr/>
          </p:nvPicPr>
          <p:blipFill>
            <a:blip r:embed="rId12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01" name=""/>
          <p:cNvGrpSpPr/>
          <p:nvPr/>
        </p:nvGrpSpPr>
        <p:grpSpPr>
          <a:xfrm>
            <a:off x="6005160" y="1080000"/>
            <a:ext cx="3894840" cy="4167360"/>
            <a:chOff x="6005160" y="1080000"/>
            <a:chExt cx="3894840" cy="4167360"/>
          </a:xfrm>
        </p:grpSpPr>
        <p:pic>
          <p:nvPicPr>
            <p:cNvPr id="302" name=""/>
            <p:cNvPicPr/>
            <p:nvPr/>
          </p:nvPicPr>
          <p:blipFill>
            <a:blip r:embed="rId13"/>
            <a:stretch/>
          </p:blipFill>
          <p:spPr>
            <a:xfrm>
              <a:off x="6005160" y="1080000"/>
              <a:ext cx="3894840" cy="4167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3" name=""/>
            <p:cNvSpPr/>
            <p:nvPr/>
          </p:nvSpPr>
          <p:spPr>
            <a:xfrm>
              <a:off x="8151120" y="3130920"/>
              <a:ext cx="893160" cy="136440"/>
            </a:xfrm>
            <a:prstGeom prst="roundRect">
              <a:avLst>
                <a:gd name="adj" fmla="val 16667"/>
              </a:avLst>
            </a:prstGeom>
            <a:noFill/>
            <a:ln w="360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60480" rIns="108000" bIns="6048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4" name=""/>
          <p:cNvSpPr txBox="1"/>
          <p:nvPr/>
        </p:nvSpPr>
        <p:spPr>
          <a:xfrm>
            <a:off x="180000" y="1470240"/>
            <a:ext cx="5810040" cy="8895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SNF is an unsupervised multi-omics integration method that builds one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sample similarity network per omic and iteratively fuses them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into a single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integrated network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for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subtype discovery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, exploiting a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message-passing process.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"/>
          <p:cNvSpPr/>
          <p:nvPr/>
        </p:nvSpPr>
        <p:spPr>
          <a:xfrm>
            <a:off x="180000" y="1080000"/>
            <a:ext cx="22309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How SNF 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"/>
          <p:cNvSpPr/>
          <p:nvPr/>
        </p:nvSpPr>
        <p:spPr>
          <a:xfrm>
            <a:off x="198720" y="3862800"/>
            <a:ext cx="520128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4) Integration through an </a:t>
            </a:r>
            <a:r>
              <a:rPr lang="en-US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iterative parallel diffusion process and final average</a:t>
            </a: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(two views s={1,2}):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0" name=""/>
          <p:cNvGrpSpPr/>
          <p:nvPr/>
        </p:nvGrpSpPr>
        <p:grpSpPr>
          <a:xfrm>
            <a:off x="780120" y="4345200"/>
            <a:ext cx="3891600" cy="401040"/>
            <a:chOff x="780120" y="4345200"/>
            <a:chExt cx="3891600" cy="401040"/>
          </a:xfrm>
        </p:grpSpPr>
        <p:sp>
          <p:nvSpPr>
            <p:cNvPr id="311" name="Arrow: Right 12"/>
            <p:cNvSpPr/>
            <p:nvPr/>
          </p:nvSpPr>
          <p:spPr>
            <a:xfrm>
              <a:off x="2141280" y="4463280"/>
              <a:ext cx="360000" cy="131400"/>
            </a:xfrm>
            <a:prstGeom prst="rightArrow">
              <a:avLst>
                <a:gd name="adj1" fmla="val 30000"/>
                <a:gd name="adj2" fmla="val 116667"/>
              </a:avLst>
            </a:prstGeom>
            <a:solidFill>
              <a:srgbClr val="043266"/>
            </a:solidFill>
            <a:ln w="9360">
              <a:solidFill>
                <a:srgbClr val="0432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-6480" bIns="-6480" anchor="t">
              <a:noAutofit/>
            </a:bodyPr>
            <a:p>
              <a:endParaRPr lang="it-IT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12" name="Picture 22"/>
            <p:cNvPicPr/>
            <p:nvPr/>
          </p:nvPicPr>
          <p:blipFill>
            <a:blip r:embed="rId4"/>
            <a:stretch/>
          </p:blipFill>
          <p:spPr>
            <a:xfrm>
              <a:off x="780120" y="4345200"/>
              <a:ext cx="1288080" cy="401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3" name="Picture 24"/>
            <p:cNvPicPr/>
            <p:nvPr/>
          </p:nvPicPr>
          <p:blipFill>
            <a:blip r:embed="rId5"/>
            <a:stretch/>
          </p:blipFill>
          <p:spPr>
            <a:xfrm>
              <a:off x="2508480" y="4363920"/>
              <a:ext cx="2163240" cy="3823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314" name="Picture 16"/>
          <p:cNvPicPr/>
          <p:nvPr/>
        </p:nvPicPr>
        <p:blipFill>
          <a:blip r:embed="rId6"/>
          <a:stretch/>
        </p:blipFill>
        <p:spPr>
          <a:xfrm>
            <a:off x="803520" y="2180520"/>
            <a:ext cx="1964520" cy="51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"/>
          <p:cNvSpPr txBox="1"/>
          <p:nvPr/>
        </p:nvSpPr>
        <p:spPr>
          <a:xfrm>
            <a:off x="180000" y="1980000"/>
            <a:ext cx="361440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2) Computation of </a:t>
            </a:r>
            <a:r>
              <a:rPr lang="en-US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omic-specific</a:t>
            </a: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global similarity matrix P</a:t>
            </a: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20"/>
          <p:cNvPicPr/>
          <p:nvPr/>
        </p:nvPicPr>
        <p:blipFill>
          <a:blip r:embed="rId7"/>
          <a:stretch/>
        </p:blipFill>
        <p:spPr>
          <a:xfrm>
            <a:off x="825120" y="3060000"/>
            <a:ext cx="1980000" cy="50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"/>
          <p:cNvSpPr txBox="1"/>
          <p:nvPr/>
        </p:nvSpPr>
        <p:spPr>
          <a:xfrm>
            <a:off x="184320" y="2700000"/>
            <a:ext cx="377568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3) Computation of the </a:t>
            </a:r>
            <a:r>
              <a:rPr lang="en-US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omic-specific</a:t>
            </a: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local similarity matrix S, retaining only </a:t>
            </a:r>
            <a:r>
              <a:rPr lang="en-US" sz="1000" b="1" i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k</a:t>
            </a:r>
            <a:r>
              <a:rPr lang="en-US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-nearest neighbours</a:t>
            </a: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8" name=""/>
          <p:cNvGrpSpPr/>
          <p:nvPr/>
        </p:nvGrpSpPr>
        <p:grpSpPr>
          <a:xfrm>
            <a:off x="198720" y="3623760"/>
            <a:ext cx="2230920" cy="237960"/>
            <a:chOff x="198720" y="3623760"/>
            <a:chExt cx="2230920" cy="237960"/>
          </a:xfrm>
        </p:grpSpPr>
        <p:pic>
          <p:nvPicPr>
            <p:cNvPr id="319" name="Picture 26"/>
            <p:cNvPicPr/>
            <p:nvPr/>
          </p:nvPicPr>
          <p:blipFill>
            <a:blip r:embed="rId8"/>
            <a:stretch/>
          </p:blipFill>
          <p:spPr>
            <a:xfrm>
              <a:off x="681120" y="3623760"/>
              <a:ext cx="1748520" cy="221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20" name=""/>
            <p:cNvSpPr txBox="1"/>
            <p:nvPr/>
          </p:nvSpPr>
          <p:spPr>
            <a:xfrm>
              <a:off x="198720" y="3629520"/>
              <a:ext cx="54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where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1" name=""/>
          <p:cNvSpPr/>
          <p:nvPr/>
        </p:nvSpPr>
        <p:spPr>
          <a:xfrm>
            <a:off x="360000" y="1508760"/>
            <a:ext cx="226656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80000" y="1567800"/>
            <a:ext cx="3240000" cy="232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1) </a:t>
            </a:r>
            <a:r>
              <a:rPr lang="en-US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Omic-specific similarity matrix W</a:t>
            </a: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is computed.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80000" y="4860000"/>
            <a:ext cx="2880000" cy="2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5)</a:t>
            </a:r>
            <a:r>
              <a:rPr lang="it-IT" sz="10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 Spectral clustering</a:t>
            </a: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 for subgroup discovery.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4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325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26" name=""/>
            <p:cNvPicPr/>
            <p:nvPr/>
          </p:nvPicPr>
          <p:blipFill>
            <a:blip r:embed="rId9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27" name=""/>
          <p:cNvGrpSpPr/>
          <p:nvPr/>
        </p:nvGrpSpPr>
        <p:grpSpPr>
          <a:xfrm>
            <a:off x="5643720" y="1980000"/>
            <a:ext cx="3716280" cy="2109960"/>
            <a:chOff x="5643720" y="1980000"/>
            <a:chExt cx="3716280" cy="2109960"/>
          </a:xfrm>
        </p:grpSpPr>
        <p:grpSp>
          <p:nvGrpSpPr>
            <p:cNvPr id="328" name=""/>
            <p:cNvGrpSpPr/>
            <p:nvPr/>
          </p:nvGrpSpPr>
          <p:grpSpPr>
            <a:xfrm>
              <a:off x="5643720" y="1980000"/>
              <a:ext cx="3716280" cy="1901880"/>
              <a:chOff x="5643720" y="1980000"/>
              <a:chExt cx="3716280" cy="1901880"/>
            </a:xfrm>
          </p:grpSpPr>
          <p:pic>
            <p:nvPicPr>
              <p:cNvPr id="329" name="Picture 9" descr="A diagram of a connection&#10;&#10;Description automatically generated with medium confidence"/>
              <p:cNvPicPr/>
              <p:nvPr/>
            </p:nvPicPr>
            <p:blipFill>
              <a:blip r:embed="rId10"/>
              <a:srcRect l="1236" t="9722" r="54219" b="38873"/>
              <a:stretch/>
            </p:blipFill>
            <p:spPr>
              <a:xfrm>
                <a:off x="5643720" y="1980000"/>
                <a:ext cx="2276280" cy="19018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30" name="Picture 1" descr="A diagram of a connection&#10;&#10;Description automatically generated with medium confidence"/>
              <p:cNvPicPr/>
              <p:nvPr/>
            </p:nvPicPr>
            <p:blipFill>
              <a:blip r:embed="rId11"/>
              <a:srcRect l="66721" t="64343" r="8168" b="3158"/>
              <a:stretch/>
            </p:blipFill>
            <p:spPr>
              <a:xfrm>
                <a:off x="8077680" y="2340000"/>
                <a:ext cx="1282320" cy="12020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331" name=""/>
            <p:cNvSpPr txBox="1"/>
            <p:nvPr/>
          </p:nvSpPr>
          <p:spPr>
            <a:xfrm>
              <a:off x="5879160" y="3857760"/>
              <a:ext cx="33588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tIns="45000" rIns="90000" bIns="45000" anchor="t">
              <a:spAutoFit/>
            </a:bodyPr>
            <a:p>
              <a:r>
                <a:rPr lang="it-IT" sz="1000" b="0" i="1" u="none" strike="noStrike">
                  <a:solidFill>
                    <a:srgbClr val="03005B"/>
                  </a:solidFill>
                  <a:effectLst/>
                  <a:uFillTx/>
                  <a:latin typeface="Arial"/>
                </a:rPr>
                <a:t>Image adapted from Gliozzo J, et al Bioinformatics, 2025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>
            <a:off x="0" y="0"/>
            <a:ext cx="10077840" cy="56678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"/>
          <p:cNvSpPr/>
          <p:nvPr/>
        </p:nvSpPr>
        <p:spPr>
          <a:xfrm>
            <a:off x="180000" y="1080000"/>
            <a:ext cx="468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NEighborhood based Multi-Omics clustering (NEMO)</a:t>
            </a:r>
            <a:br>
              <a:rPr sz="1400"/>
            </a:br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(Rappoport and Shamir, Bioinformatics, 2019)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7" name=""/>
          <p:cNvGrpSpPr/>
          <p:nvPr/>
        </p:nvGrpSpPr>
        <p:grpSpPr>
          <a:xfrm>
            <a:off x="240480" y="3923280"/>
            <a:ext cx="3240000" cy="1321560"/>
            <a:chOff x="240480" y="3923280"/>
            <a:chExt cx="3240000" cy="1321560"/>
          </a:xfrm>
        </p:grpSpPr>
        <p:sp>
          <p:nvSpPr>
            <p:cNvPr id="338" name=""/>
            <p:cNvSpPr/>
            <p:nvPr/>
          </p:nvSpPr>
          <p:spPr>
            <a:xfrm>
              <a:off x="458280" y="3923280"/>
              <a:ext cx="2484360" cy="48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Limited biomarker interpretation</a:t>
              </a:r>
              <a:r>
                <a:rPr lang="en-US" sz="14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  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"/>
            <p:cNvSpPr/>
            <p:nvPr/>
          </p:nvSpPr>
          <p:spPr>
            <a:xfrm>
              <a:off x="456480" y="4496760"/>
              <a:ext cx="3024000" cy="32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Assumes each pair of samples shares at least one measured omic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40" name=""/>
            <p:cNvPicPr/>
            <p:nvPr/>
          </p:nvPicPr>
          <p:blipFill>
            <a:blip r:embed="rId4"/>
            <a:stretch/>
          </p:blipFill>
          <p:spPr>
            <a:xfrm>
              <a:off x="240480" y="402804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1" name=""/>
            <p:cNvPicPr/>
            <p:nvPr/>
          </p:nvPicPr>
          <p:blipFill>
            <a:blip r:embed="rId5"/>
            <a:stretch/>
          </p:blipFill>
          <p:spPr>
            <a:xfrm>
              <a:off x="242640" y="431640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2" name=""/>
            <p:cNvSpPr/>
            <p:nvPr/>
          </p:nvSpPr>
          <p:spPr>
            <a:xfrm>
              <a:off x="451080" y="4219200"/>
              <a:ext cx="3024000" cy="32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Choice of hyperparameters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43" name=""/>
            <p:cNvPicPr/>
            <p:nvPr/>
          </p:nvPicPr>
          <p:blipFill>
            <a:blip r:embed="rId6"/>
            <a:stretch/>
          </p:blipFill>
          <p:spPr>
            <a:xfrm>
              <a:off x="248040" y="459396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4" name=""/>
            <p:cNvPicPr/>
            <p:nvPr/>
          </p:nvPicPr>
          <p:blipFill>
            <a:blip r:embed="rId7"/>
            <a:stretch/>
          </p:blipFill>
          <p:spPr>
            <a:xfrm>
              <a:off x="240480" y="498564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5" name=""/>
            <p:cNvSpPr/>
            <p:nvPr/>
          </p:nvSpPr>
          <p:spPr>
            <a:xfrm>
              <a:off x="448920" y="4918320"/>
              <a:ext cx="2786760" cy="32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Poor scaling with number of samples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6" name=""/>
          <p:cNvGrpSpPr/>
          <p:nvPr/>
        </p:nvGrpSpPr>
        <p:grpSpPr>
          <a:xfrm>
            <a:off x="250920" y="2413440"/>
            <a:ext cx="3423240" cy="1366560"/>
            <a:chOff x="250920" y="2413440"/>
            <a:chExt cx="3423240" cy="1366560"/>
          </a:xfrm>
        </p:grpSpPr>
        <p:grpSp>
          <p:nvGrpSpPr>
            <p:cNvPr id="347" name=""/>
            <p:cNvGrpSpPr/>
            <p:nvPr/>
          </p:nvGrpSpPr>
          <p:grpSpPr>
            <a:xfrm>
              <a:off x="254160" y="2413440"/>
              <a:ext cx="3058200" cy="291240"/>
              <a:chOff x="254160" y="2413440"/>
              <a:chExt cx="3058200" cy="291240"/>
            </a:xfrm>
          </p:grpSpPr>
          <p:sp>
            <p:nvSpPr>
              <p:cNvPr id="348" name=""/>
              <p:cNvSpPr/>
              <p:nvPr/>
            </p:nvSpPr>
            <p:spPr>
              <a:xfrm>
                <a:off x="468000" y="2413440"/>
                <a:ext cx="2844360" cy="291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rgbClr val="03005B"/>
                    </a:solidFill>
                    <a:effectLst/>
                    <a:uFillTx/>
                    <a:latin typeface="Arial"/>
                    <a:ea typeface="DejaVu Sans"/>
                  </a:rPr>
                  <a:t>Unsupervised subtype discovery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49" name=""/>
              <p:cNvPicPr/>
              <p:nvPr/>
            </p:nvPicPr>
            <p:blipFill>
              <a:blip r:embed="rId8"/>
              <a:stretch/>
            </p:blipFill>
            <p:spPr>
              <a:xfrm>
                <a:off x="254160" y="2501280"/>
                <a:ext cx="112680" cy="1126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50" name=""/>
            <p:cNvGrpSpPr/>
            <p:nvPr/>
          </p:nvGrpSpPr>
          <p:grpSpPr>
            <a:xfrm>
              <a:off x="255960" y="2646720"/>
              <a:ext cx="3418200" cy="488880"/>
              <a:chOff x="255960" y="2646720"/>
              <a:chExt cx="3418200" cy="488880"/>
            </a:xfrm>
          </p:grpSpPr>
          <p:sp>
            <p:nvSpPr>
              <p:cNvPr id="351" name=""/>
              <p:cNvSpPr/>
              <p:nvPr/>
            </p:nvSpPr>
            <p:spPr>
              <a:xfrm>
                <a:off x="469800" y="2646720"/>
                <a:ext cx="3204360" cy="48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rgbClr val="03005B"/>
                    </a:solidFill>
                    <a:effectLst/>
                    <a:uFillTx/>
                    <a:latin typeface="Arial"/>
                    <a:ea typeface="DejaVu Sans"/>
                  </a:rPr>
                  <a:t>High-dimensional features into an integrated sample-sample network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52" name=""/>
              <p:cNvPicPr/>
              <p:nvPr/>
            </p:nvPicPr>
            <p:blipFill>
              <a:blip r:embed="rId9"/>
              <a:stretch/>
            </p:blipFill>
            <p:spPr>
              <a:xfrm>
                <a:off x="255960" y="2734560"/>
                <a:ext cx="112680" cy="1126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53" name=""/>
            <p:cNvGrpSpPr/>
            <p:nvPr/>
          </p:nvGrpSpPr>
          <p:grpSpPr>
            <a:xfrm>
              <a:off x="250920" y="3060000"/>
              <a:ext cx="3418200" cy="488880"/>
              <a:chOff x="250920" y="3060000"/>
              <a:chExt cx="3418200" cy="488880"/>
            </a:xfrm>
          </p:grpSpPr>
          <p:sp>
            <p:nvSpPr>
              <p:cNvPr id="354" name=""/>
              <p:cNvSpPr/>
              <p:nvPr/>
            </p:nvSpPr>
            <p:spPr>
              <a:xfrm>
                <a:off x="464760" y="3060000"/>
                <a:ext cx="3204360" cy="48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rgbClr val="03005B"/>
                    </a:solidFill>
                    <a:effectLst/>
                    <a:uFillTx/>
                    <a:latin typeface="Arial"/>
                    <a:ea typeface="DejaVu Sans"/>
                  </a:rPr>
                  <a:t>Capture local/nonlinear relationships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355" name=""/>
              <p:cNvPicPr/>
              <p:nvPr/>
            </p:nvPicPr>
            <p:blipFill>
              <a:blip r:embed="rId10"/>
              <a:stretch/>
            </p:blipFill>
            <p:spPr>
              <a:xfrm>
                <a:off x="250920" y="3147480"/>
                <a:ext cx="112680" cy="1126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356" name=""/>
            <p:cNvPicPr/>
            <p:nvPr/>
          </p:nvPicPr>
          <p:blipFill>
            <a:blip r:embed="rId11">
              <a:lum bright="3000"/>
            </a:blip>
            <a:stretch/>
          </p:blipFill>
          <p:spPr>
            <a:xfrm>
              <a:off x="250920" y="340020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7" name=""/>
            <p:cNvSpPr/>
            <p:nvPr/>
          </p:nvSpPr>
          <p:spPr>
            <a:xfrm>
              <a:off x="469800" y="3317760"/>
              <a:ext cx="2770200" cy="2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Sample-sample network interpretation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8" name=""/>
            <p:cNvPicPr/>
            <p:nvPr/>
          </p:nvPicPr>
          <p:blipFill>
            <a:blip r:embed="rId12"/>
            <a:stretch/>
          </p:blipFill>
          <p:spPr>
            <a:xfrm>
              <a:off x="254160" y="3651480"/>
              <a:ext cx="112680" cy="112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9" name=""/>
            <p:cNvSpPr/>
            <p:nvPr/>
          </p:nvSpPr>
          <p:spPr>
            <a:xfrm>
              <a:off x="469800" y="3548880"/>
              <a:ext cx="2844360" cy="23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  <a:ea typeface="DejaVu Sans"/>
                </a:rPr>
                <a:t>Handles partial multi-omics datasets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0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361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62" name=""/>
            <p:cNvPicPr/>
            <p:nvPr/>
          </p:nvPicPr>
          <p:blipFill>
            <a:blip r:embed="rId13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63" name=""/>
          <p:cNvGrpSpPr/>
          <p:nvPr/>
        </p:nvGrpSpPr>
        <p:grpSpPr>
          <a:xfrm>
            <a:off x="6005160" y="1052640"/>
            <a:ext cx="3894840" cy="4167360"/>
            <a:chOff x="6005160" y="1052640"/>
            <a:chExt cx="3894840" cy="4167360"/>
          </a:xfrm>
        </p:grpSpPr>
        <p:pic>
          <p:nvPicPr>
            <p:cNvPr id="364" name=""/>
            <p:cNvPicPr/>
            <p:nvPr/>
          </p:nvPicPr>
          <p:blipFill>
            <a:blip r:embed="rId14"/>
            <a:stretch/>
          </p:blipFill>
          <p:spPr>
            <a:xfrm>
              <a:off x="6005160" y="1052640"/>
              <a:ext cx="3894840" cy="4167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5" name=""/>
            <p:cNvSpPr/>
            <p:nvPr/>
          </p:nvSpPr>
          <p:spPr>
            <a:xfrm>
              <a:off x="8148240" y="3235320"/>
              <a:ext cx="893160" cy="206280"/>
            </a:xfrm>
            <a:prstGeom prst="roundRect">
              <a:avLst>
                <a:gd name="adj" fmla="val 16667"/>
              </a:avLst>
            </a:prstGeom>
            <a:noFill/>
            <a:ln w="360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63000" rIns="108000" bIns="630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6" name=""/>
          <p:cNvSpPr txBox="1"/>
          <p:nvPr/>
        </p:nvSpPr>
        <p:spPr>
          <a:xfrm>
            <a:off x="180000" y="1620000"/>
            <a:ext cx="5829480" cy="6897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NEMO is an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unsupervised network-based integration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approach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that fuses local sample-neighbourhood similarities across omic-specific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networks for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subtype discovery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"/>
          <p:cNvSpPr/>
          <p:nvPr/>
        </p:nvSpPr>
        <p:spPr>
          <a:xfrm>
            <a:off x="81720" y="1158480"/>
            <a:ext cx="22309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How NEMO works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540000" y="2008080"/>
            <a:ext cx="226656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59400" y="1620000"/>
            <a:ext cx="35406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1) Omic-specific similarity matrix using “</a:t>
            </a:r>
            <a:r>
              <a:rPr lang="en-US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scaled exponential Euclidean kernel</a:t>
            </a:r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”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(same as SNF).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9400" y="2160000"/>
            <a:ext cx="3720600" cy="43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2) Define a </a:t>
            </a:r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relative similarity matrix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for each 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omic </a:t>
            </a:r>
            <a:r>
              <a:rPr lang="it-IT" sz="1200" b="0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l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82080" y="2591640"/>
            <a:ext cx="3420000" cy="52524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algn="ctr"/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5" name=""/>
          <p:cNvGrpSpPr/>
          <p:nvPr/>
        </p:nvGrpSpPr>
        <p:grpSpPr>
          <a:xfrm>
            <a:off x="59400" y="3780000"/>
            <a:ext cx="3525480" cy="885960"/>
            <a:chOff x="59400" y="3780000"/>
            <a:chExt cx="3525480" cy="885960"/>
          </a:xfrm>
        </p:grpSpPr>
        <p:sp>
          <p:nvSpPr>
            <p:cNvPr id="376" name=""/>
            <p:cNvSpPr txBox="1"/>
            <p:nvPr/>
          </p:nvSpPr>
          <p:spPr>
            <a:xfrm>
              <a:off x="59400" y="3780000"/>
              <a:ext cx="3525480" cy="4316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</a:rPr>
                <a:t>3) Integration by </a:t>
              </a:r>
              <a:r>
                <a:rPr lang="it-IT" sz="1200" b="1" u="none" strike="noStrike">
                  <a:solidFill>
                    <a:srgbClr val="03005B"/>
                  </a:solidFill>
                  <a:effectLst/>
                  <a:uFillTx/>
                  <a:latin typeface="Arial"/>
                </a:rPr>
                <a:t>average</a:t>
              </a:r>
              <a:r>
                <a:rPr lang="it-IT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</a:rPr>
                <a:t> considering </a:t>
              </a:r>
              <a:r>
                <a:rPr lang="it-IT" sz="1200" b="1" u="none" strike="noStrike">
                  <a:solidFill>
                    <a:srgbClr val="03005B"/>
                  </a:solidFill>
                  <a:effectLst/>
                  <a:uFillTx/>
                  <a:latin typeface="Arial"/>
                </a:rPr>
                <a:t>omics types available for both samples</a:t>
              </a:r>
              <a:r>
                <a:rPr lang="it-IT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</a:rPr>
                <a:t> </a:t>
              </a:r>
              <a:r>
                <a:rPr lang="it-IT" sz="1200" b="1" u="none" strike="noStrike">
                  <a:solidFill>
                    <a:srgbClr val="03005B"/>
                  </a:solidFill>
                  <a:effectLst/>
                  <a:uFillTx/>
                  <a:latin typeface="Arial"/>
                </a:rPr>
                <a:t>JM(i,j)</a:t>
              </a:r>
              <a:r>
                <a:rPr lang="it-IT" sz="1200" b="0" u="none" strike="noStrike">
                  <a:solidFill>
                    <a:srgbClr val="03005B"/>
                  </a:solidFill>
                  <a:effectLst/>
                  <a:uFillTx/>
                  <a:latin typeface="Arial"/>
                </a:rPr>
                <a:t>: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77" name=""/>
            <p:cNvPicPr/>
            <p:nvPr/>
          </p:nvPicPr>
          <p:blipFill>
            <a:blip r:embed="rId5"/>
            <a:stretch/>
          </p:blipFill>
          <p:spPr>
            <a:xfrm>
              <a:off x="704880" y="4211640"/>
              <a:ext cx="2160000" cy="454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78" name=""/>
          <p:cNvSpPr txBox="1"/>
          <p:nvPr/>
        </p:nvSpPr>
        <p:spPr>
          <a:xfrm>
            <a:off x="59400" y="4680000"/>
            <a:ext cx="3360600" cy="27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4) Spectral clustering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 for subgroup discovery.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9" name=""/>
          <p:cNvPicPr/>
          <p:nvPr/>
        </p:nvPicPr>
        <p:blipFill>
          <a:blip r:embed="rId6"/>
          <a:srcRect l="0" t="0" r="582" b="12029"/>
          <a:stretch/>
        </p:blipFill>
        <p:spPr>
          <a:xfrm>
            <a:off x="3420000" y="1940400"/>
            <a:ext cx="6546600" cy="3279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80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381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82" name=""/>
            <p:cNvPicPr/>
            <p:nvPr/>
          </p:nvPicPr>
          <p:blipFill>
            <a:blip r:embed="rId7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83" name=""/>
          <p:cNvSpPr txBox="1"/>
          <p:nvPr/>
        </p:nvSpPr>
        <p:spPr>
          <a:xfrm>
            <a:off x="173160" y="3240000"/>
            <a:ext cx="32468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Similarity is evaluated relative to the local 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neighborhoods of both samples (i,j).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5400000" y="1096200"/>
            <a:ext cx="3060000" cy="227160"/>
          </a:xfrm>
          <a:prstGeom prst="roundRect">
            <a:avLst>
              <a:gd name="adj" fmla="val 16667"/>
            </a:avLst>
          </a:prstGeom>
          <a:solidFill>
            <a:srgbClr val="29CF71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Unlike SNF: no iterative network diffusion.</a:t>
            </a:r>
            <a:endParaRPr lang="it-IT" sz="12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5040000" y="1440000"/>
            <a:ext cx="3779640" cy="360000"/>
          </a:xfrm>
          <a:prstGeom prst="roundRect">
            <a:avLst>
              <a:gd name="adj" fmla="val 16667"/>
            </a:avLst>
          </a:prstGeom>
          <a:solidFill>
            <a:srgbClr val="29CF71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Handles missing omics</a:t>
            </a:r>
            <a:endParaRPr lang="it-IT" sz="12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  <a:p>
            <a:pPr algn="ctr"/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Each pair of samples must share ≥1 measured omic </a:t>
            </a:r>
            <a:endParaRPr lang="it-IT" sz="12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7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8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"/>
          <p:cNvSpPr/>
          <p:nvPr/>
        </p:nvSpPr>
        <p:spPr>
          <a:xfrm>
            <a:off x="7956000" y="1332000"/>
            <a:ext cx="23400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What’s new with BiomiX?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"/>
          <p:cNvPicPr/>
          <p:nvPr/>
        </p:nvPicPr>
        <p:blipFill>
          <a:blip r:embed="rId4"/>
          <a:stretch/>
        </p:blipFill>
        <p:spPr>
          <a:xfrm>
            <a:off x="40680" y="1044000"/>
            <a:ext cx="7699320" cy="399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"/>
          <p:cNvSpPr/>
          <p:nvPr/>
        </p:nvSpPr>
        <p:spPr>
          <a:xfrm>
            <a:off x="7776000" y="5040000"/>
            <a:ext cx="23400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Iperi et al BMC bioinformatics (2025)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7740000" y="1836000"/>
            <a:ext cx="2340000" cy="29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3005B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Automatic selection MOFA/ DIABLO factors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3005B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(stopping when new variance capture &lt; 1%)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3005B"/>
              </a:buClr>
              <a:buSzPct val="45000"/>
              <a:buFont typeface="Wingdings" charset="2"/>
              <a:buChar char="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3005B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Selection of factors separating the two conditions (semi-supervised)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3005B"/>
              </a:buClr>
              <a:buSzPct val="45000"/>
              <a:buFont typeface="Wingdings" charset="2"/>
              <a:buChar char=""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3005B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Automatic annotation of the latent factors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3005B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- </a:t>
            </a:r>
            <a:r>
              <a:rPr lang="en-US" sz="1200" b="0" u="none" strike="noStrike">
                <a:solidFill>
                  <a:srgbClr val="55308D"/>
                </a:solidFill>
                <a:effectLst/>
                <a:uFillTx/>
                <a:latin typeface="Arial"/>
                <a:ea typeface="DejaVu Sans"/>
              </a:rPr>
              <a:t>Correlation by clinical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3005B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- </a:t>
            </a:r>
            <a:r>
              <a:rPr lang="en-US" sz="1200" b="0" u="none" strike="noStrike">
                <a:solidFill>
                  <a:srgbClr val="1E6A39"/>
                </a:solidFill>
                <a:effectLst/>
                <a:uFillTx/>
                <a:latin typeface="Arial"/>
                <a:ea typeface="DejaVu Sans"/>
              </a:rPr>
              <a:t>Pathway analysis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3005B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- </a:t>
            </a:r>
            <a:r>
              <a:rPr lang="en-US" sz="1200" b="0" u="none" strike="noStrike">
                <a:solidFill>
                  <a:srgbClr val="EA7500"/>
                </a:solidFill>
                <a:effectLst/>
                <a:uFillTx/>
                <a:latin typeface="Arial"/>
                <a:ea typeface="DejaVu Sans"/>
              </a:rPr>
              <a:t>Bibliographic research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3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394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95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7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8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"/>
          <p:cNvPicPr/>
          <p:nvPr/>
        </p:nvPicPr>
        <p:blipFill>
          <a:blip r:embed="rId4"/>
          <a:stretch/>
        </p:blipFill>
        <p:spPr>
          <a:xfrm>
            <a:off x="390240" y="2514960"/>
            <a:ext cx="4649760" cy="234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"/>
          <p:cNvSpPr/>
          <p:nvPr/>
        </p:nvSpPr>
        <p:spPr>
          <a:xfrm>
            <a:off x="5220000" y="5040000"/>
            <a:ext cx="48960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https://sagarsajeev.medium.com/business-logic-vulnerability-via-idor-6d510f1caea9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1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402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03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04" name=""/>
          <p:cNvSpPr txBox="1"/>
          <p:nvPr/>
        </p:nvSpPr>
        <p:spPr>
          <a:xfrm>
            <a:off x="4500000" y="1620000"/>
            <a:ext cx="5040000" cy="588960"/>
          </a:xfrm>
          <a:prstGeom prst="rect">
            <a:avLst/>
          </a:prstGeom>
        </p:spPr>
        <p:txBody>
          <a:bodyPr wrap="none" lIns="99720" tIns="56520" rIns="99720" bIns="56520" anchor="ctr" anchorCtr="1">
            <a:prstTxWarp prst="textPlain">
              <a:avLst>
                <a:gd name="adj" fmla="val 50031"/>
              </a:avLst>
            </a:prstTxWarp>
            <a:noAutofit/>
          </a:bodyPr>
          <a:p>
            <a:pPr>
              <a:lnSpc>
                <a:spcPct val="100000"/>
              </a:lnSpc>
            </a:pPr>
            <a:r>
              <a:rPr lang="it-IT" sz="2400" b="1" u="none" strike="noStrike">
                <a:ln cap="rnd" w="28800">
                  <a:solidFill>
                    <a:srgbClr val="FFFFFF"/>
                  </a:solidFill>
                  <a:round/>
                </a:ln>
                <a:gradFill rotWithShape="0">
                  <a:gsLst>
                    <a:gs pos="0">
                      <a:srgbClr val="333333"/>
                    </a:gs>
                    <a:gs pos="100000">
                      <a:srgbClr val="999999"/>
                    </a:gs>
                  </a:gsLst>
                  <a:lin ang="5400000"/>
                </a:gradFill>
                <a:effectLst>
                  <a:outerShdw dist="107932" dir="2700000" rotWithShape="0">
                    <a:srgbClr val="DDDDDD"/>
                  </a:outerShdw>
                </a:effectLst>
                <a:uFillTx/>
                <a:latin typeface="Cambria"/>
                <a:ea typeface="MS Gothic"/>
              </a:rPr>
              <a:t>MOFA tutorial </a:t>
            </a:r>
            <a:endParaRPr lang="it-IT" sz="2400" b="1" u="none" strike="noStrike">
              <a:ln cap="rnd" w="28800">
                <a:solidFill>
                  <a:srgbClr val="FFFFFF"/>
                </a:solidFill>
                <a:round/>
              </a:ln>
              <a:gradFill rotWithShape="0">
                <a:gsLst>
                  <a:gs pos="0">
                    <a:srgbClr val="333333"/>
                  </a:gs>
                  <a:gs pos="100000">
                    <a:srgbClr val="999999"/>
                  </a:gs>
                </a:gsLst>
                <a:lin ang="5400000"/>
              </a:gradFill>
              <a:effectLst>
                <a:outerShdw dist="107932" dir="2700000" rotWithShape="0">
                  <a:srgbClr val="DDDDDD"/>
                </a:outerShdw>
              </a:effectLst>
              <a:uFillTx/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6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8" name=""/>
          <p:cNvPicPr/>
          <p:nvPr/>
        </p:nvPicPr>
        <p:blipFill>
          <a:blip r:embed="rId4"/>
          <a:srcRect l="0" t="0" r="0" b="70924"/>
          <a:stretch/>
        </p:blipFill>
        <p:spPr>
          <a:xfrm>
            <a:off x="540000" y="3060000"/>
            <a:ext cx="8442000" cy="16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" name=""/>
          <p:cNvSpPr/>
          <p:nvPr/>
        </p:nvSpPr>
        <p:spPr>
          <a:xfrm>
            <a:off x="7524000" y="4644000"/>
            <a:ext cx="22309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Advance option MOFA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0" name=""/>
          <p:cNvPicPr/>
          <p:nvPr/>
        </p:nvPicPr>
        <p:blipFill>
          <a:blip r:embed="rId5"/>
          <a:stretch/>
        </p:blipFill>
        <p:spPr>
          <a:xfrm>
            <a:off x="720000" y="1080000"/>
            <a:ext cx="7887240" cy="176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"/>
          <p:cNvSpPr/>
          <p:nvPr/>
        </p:nvSpPr>
        <p:spPr>
          <a:xfrm>
            <a:off x="7524360" y="2772000"/>
            <a:ext cx="22309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Main interface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2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413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14" name=""/>
            <p:cNvPicPr/>
            <p:nvPr/>
          </p:nvPicPr>
          <p:blipFill>
            <a:blip r:embed="rId6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15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416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17" name=""/>
            <p:cNvPicPr/>
            <p:nvPr/>
          </p:nvPicPr>
          <p:blipFill>
            <a:blip r:embed="rId7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9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0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1" name=""/>
          <p:cNvPicPr/>
          <p:nvPr/>
        </p:nvPicPr>
        <p:blipFill>
          <a:blip r:embed="rId4"/>
          <a:srcRect l="0" t="0" r="0" b="70924"/>
          <a:stretch/>
        </p:blipFill>
        <p:spPr>
          <a:xfrm>
            <a:off x="540000" y="3060000"/>
            <a:ext cx="8442000" cy="16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"/>
          <p:cNvSpPr/>
          <p:nvPr/>
        </p:nvSpPr>
        <p:spPr>
          <a:xfrm>
            <a:off x="7524000" y="4644000"/>
            <a:ext cx="22309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Advance option MOFA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3" name=""/>
          <p:cNvPicPr/>
          <p:nvPr/>
        </p:nvPicPr>
        <p:blipFill>
          <a:blip r:embed="rId5"/>
          <a:stretch/>
        </p:blipFill>
        <p:spPr>
          <a:xfrm>
            <a:off x="720000" y="1080000"/>
            <a:ext cx="7887240" cy="176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"/>
          <p:cNvSpPr/>
          <p:nvPr/>
        </p:nvSpPr>
        <p:spPr>
          <a:xfrm>
            <a:off x="7632360" y="2376000"/>
            <a:ext cx="18356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127622"/>
                </a:solidFill>
                <a:effectLst/>
                <a:uFillTx/>
                <a:latin typeface="Arial"/>
                <a:ea typeface="DejaVu Sans"/>
              </a:rPr>
              <a:t>Exclude samples with less than “” Omics shared</a:t>
            </a:r>
            <a:endParaRPr lang="en-US" sz="1000" b="0" u="none" strike="noStrike">
              <a:solidFill>
                <a:srgbClr val="127622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7560000" y="2160000"/>
            <a:ext cx="180000" cy="180000"/>
          </a:xfrm>
          <a:prstGeom prst="line">
            <a:avLst/>
          </a:prstGeom>
          <a:ln w="0">
            <a:solidFill>
              <a:srgbClr val="127622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3888720" y="2376000"/>
            <a:ext cx="24112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Number of factors to calculate. When 0 activates the automatic selection</a:t>
            </a:r>
            <a:endParaRPr lang="en-US" sz="1000" b="0" u="none" strike="noStrike">
              <a:solidFill>
                <a:srgbClr val="2A6099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 flipH="1">
            <a:off x="5040000" y="2160000"/>
            <a:ext cx="216000" cy="216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2412720" y="4716000"/>
            <a:ext cx="17272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EA7500"/>
                </a:solidFill>
                <a:effectLst/>
                <a:uFillTx/>
                <a:latin typeface="Arial"/>
                <a:ea typeface="DejaVu Sans"/>
              </a:rPr>
              <a:t>Converning speed, the slower the more accurate</a:t>
            </a:r>
            <a:endParaRPr lang="en-US" sz="1000" b="0" u="none" strike="noStrike">
              <a:solidFill>
                <a:srgbClr val="EA75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3060000" y="4572000"/>
            <a:ext cx="180000" cy="180000"/>
          </a:xfrm>
          <a:prstGeom prst="line">
            <a:avLst/>
          </a:prstGeom>
          <a:ln w="0">
            <a:solidFill>
              <a:srgbClr val="FF8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4212000" y="4716000"/>
            <a:ext cx="36000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55308D"/>
                </a:solidFill>
                <a:effectLst/>
                <a:uFillTx/>
                <a:latin typeface="Arial"/>
                <a:ea typeface="DejaVu Sans"/>
              </a:rPr>
              <a:t>All features contribution to a factor are ranked from 0 to 1. Score threshold to filter features for interpretation analysis</a:t>
            </a:r>
            <a:endParaRPr lang="en-US" sz="1000" b="0" u="none" strike="noStrike">
              <a:solidFill>
                <a:srgbClr val="55308D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5436000" y="4572000"/>
            <a:ext cx="180000" cy="180000"/>
          </a:xfrm>
          <a:prstGeom prst="line">
            <a:avLst/>
          </a:prstGeom>
          <a:ln w="0">
            <a:solidFill>
              <a:srgbClr val="5B277D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2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433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34" name=""/>
            <p:cNvPicPr/>
            <p:nvPr/>
          </p:nvPicPr>
          <p:blipFill>
            <a:blip r:embed="rId6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6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7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"/>
          <p:cNvPicPr/>
          <p:nvPr/>
        </p:nvPicPr>
        <p:blipFill>
          <a:blip r:embed="rId4"/>
          <a:stretch/>
        </p:blipFill>
        <p:spPr>
          <a:xfrm>
            <a:off x="134640" y="1260000"/>
            <a:ext cx="7245360" cy="307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"/>
          <p:cNvSpPr/>
          <p:nvPr/>
        </p:nvSpPr>
        <p:spPr>
          <a:xfrm>
            <a:off x="253440" y="4464000"/>
            <a:ext cx="615456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Load EGAS00001001746_metadata_CLL.xls from Metadata folder.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2)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Set the mutated vs unmutated comparison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3)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Output folder in BiomiX 3.0 folder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40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441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42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4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5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"/>
          <p:cNvSpPr/>
          <p:nvPr/>
        </p:nvSpPr>
        <p:spPr>
          <a:xfrm>
            <a:off x="253440" y="3420000"/>
            <a:ext cx="676656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4)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Load EGAS00001001746_transcriptomics.xls from Transcriptomics folder.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5)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Load 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EGAS00001001746_methylomics.xls from Methylomics folder. 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6)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Click on integration to select the slot to integrate.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7" name=""/>
          <p:cNvPicPr/>
          <p:nvPr/>
        </p:nvPicPr>
        <p:blipFill>
          <a:blip r:embed="rId4"/>
          <a:stretch/>
        </p:blipFill>
        <p:spPr>
          <a:xfrm>
            <a:off x="212760" y="1075680"/>
            <a:ext cx="6627240" cy="1984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48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449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50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2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"/>
          <p:cNvSpPr/>
          <p:nvPr/>
        </p:nvSpPr>
        <p:spPr>
          <a:xfrm>
            <a:off x="7560000" y="1440000"/>
            <a:ext cx="22309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Select 10 factors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5" name=""/>
          <p:cNvPicPr/>
          <p:nvPr/>
        </p:nvPicPr>
        <p:blipFill>
          <a:blip r:embed="rId4"/>
          <a:stretch/>
        </p:blipFill>
        <p:spPr>
          <a:xfrm>
            <a:off x="28440" y="1148400"/>
            <a:ext cx="7171560" cy="155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6" name=""/>
          <p:cNvPicPr/>
          <p:nvPr/>
        </p:nvPicPr>
        <p:blipFill>
          <a:blip r:embed="rId5"/>
          <a:stretch/>
        </p:blipFill>
        <p:spPr>
          <a:xfrm>
            <a:off x="64440" y="2920320"/>
            <a:ext cx="7054560" cy="49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"/>
          <p:cNvSpPr/>
          <p:nvPr/>
        </p:nvSpPr>
        <p:spPr>
          <a:xfrm rot="18641400">
            <a:off x="1234080" y="3413160"/>
            <a:ext cx="540000" cy="1800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58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459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60" name=""/>
            <p:cNvPicPr/>
            <p:nvPr/>
          </p:nvPicPr>
          <p:blipFill>
            <a:blip r:embed="rId6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61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462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63" name=""/>
            <p:cNvPicPr/>
            <p:nvPr/>
          </p:nvPicPr>
          <p:blipFill>
            <a:blip r:embed="rId7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5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6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"/>
          <p:cNvSpPr/>
          <p:nvPr/>
        </p:nvSpPr>
        <p:spPr>
          <a:xfrm>
            <a:off x="2520000" y="1080000"/>
            <a:ext cx="756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Open output folder: Integration\OUTPUT\MOFA_mutated_vs_unmutated_10_factors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8" name=""/>
          <p:cNvPicPr/>
          <p:nvPr/>
        </p:nvPicPr>
        <p:blipFill>
          <a:blip r:embed="rId4"/>
          <a:stretch/>
        </p:blipFill>
        <p:spPr>
          <a:xfrm>
            <a:off x="4641120" y="1566360"/>
            <a:ext cx="5258880" cy="34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"/>
          <p:cNvSpPr/>
          <p:nvPr/>
        </p:nvSpPr>
        <p:spPr>
          <a:xfrm>
            <a:off x="4140000" y="1980000"/>
            <a:ext cx="360000" cy="1980000"/>
          </a:xfrm>
          <a:custGeom>
            <a:avLst/>
            <a:gdLst>
              <a:gd name="textAreaLeft" fmla="*/ 230040 w 360000"/>
              <a:gd name="textAreaRight" fmla="*/ 360360 w 360000"/>
              <a:gd name="textAreaTop" fmla="*/ 51480 h 1980000"/>
              <a:gd name="textAreaBottom" fmla="*/ 1928520 h 19800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900000" y="2520000"/>
            <a:ext cx="316656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0" u="none" strike="noStrike">
                <a:solidFill>
                  <a:srgbClr val="5B277D"/>
                </a:solidFill>
                <a:effectLst/>
                <a:uFillTx/>
                <a:latin typeface="Arial"/>
                <a:ea typeface="DejaVu Sans"/>
              </a:rPr>
              <a:t>Each omics has the positive and negative contributors for the “discriminating” factors</a:t>
            </a:r>
            <a:endParaRPr lang="it-IT" sz="1200" b="0" u="none" strike="noStrike">
              <a:solidFill>
                <a:srgbClr val="5B277D"/>
              </a:solidFill>
              <a:effectLst/>
              <a:uFillTx/>
              <a:latin typeface="Arial"/>
            </a:endParaRPr>
          </a:p>
        </p:txBody>
      </p:sp>
      <p:pic>
        <p:nvPicPr>
          <p:cNvPr id="471" name=""/>
          <p:cNvPicPr/>
          <p:nvPr/>
        </p:nvPicPr>
        <p:blipFill>
          <a:blip r:embed="rId5"/>
          <a:stretch/>
        </p:blipFill>
        <p:spPr>
          <a:xfrm>
            <a:off x="482400" y="3512880"/>
            <a:ext cx="2217600" cy="152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"/>
          <p:cNvSpPr/>
          <p:nvPr/>
        </p:nvSpPr>
        <p:spPr>
          <a:xfrm>
            <a:off x="540000" y="3240000"/>
            <a:ext cx="316656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0" u="none" strike="noStrike">
                <a:solidFill>
                  <a:srgbClr val="5B277D"/>
                </a:solidFill>
                <a:effectLst/>
                <a:uFillTx/>
                <a:latin typeface="Arial"/>
                <a:ea typeface="DejaVu Sans"/>
              </a:rPr>
              <a:t>Example:</a:t>
            </a:r>
            <a:endParaRPr lang="it-IT" sz="1200" b="0" u="none" strike="noStrike">
              <a:solidFill>
                <a:srgbClr val="5B277D"/>
              </a:solidFill>
              <a:effectLst/>
              <a:uFillTx/>
              <a:latin typeface="Arial"/>
            </a:endParaRPr>
          </a:p>
        </p:txBody>
      </p:sp>
      <p:grpSp>
        <p:nvGrpSpPr>
          <p:cNvPr id="473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474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75" name=""/>
            <p:cNvPicPr/>
            <p:nvPr/>
          </p:nvPicPr>
          <p:blipFill>
            <a:blip r:embed="rId6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8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"/>
          <p:cNvSpPr/>
          <p:nvPr/>
        </p:nvSpPr>
        <p:spPr>
          <a:xfrm>
            <a:off x="2520000" y="1080000"/>
            <a:ext cx="756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Open output folder: Integration\OUTPUT\MOFA_mutated_vs_unmutated_10_factors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0" name=""/>
          <p:cNvPicPr/>
          <p:nvPr/>
        </p:nvPicPr>
        <p:blipFill>
          <a:blip r:embed="rId4"/>
          <a:stretch/>
        </p:blipFill>
        <p:spPr>
          <a:xfrm>
            <a:off x="4641120" y="1566360"/>
            <a:ext cx="5258880" cy="34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" name=""/>
          <p:cNvSpPr/>
          <p:nvPr/>
        </p:nvSpPr>
        <p:spPr>
          <a:xfrm>
            <a:off x="1332000" y="2520000"/>
            <a:ext cx="2988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0" u="none" strike="noStrike">
                <a:solidFill>
                  <a:srgbClr val="5B277D"/>
                </a:solidFill>
                <a:effectLst/>
                <a:uFillTx/>
                <a:latin typeface="Arial"/>
                <a:ea typeface="DejaVu Sans"/>
              </a:rPr>
              <a:t>Latent factor value (10 factors) per each sample. Dimensional reduction-like.</a:t>
            </a:r>
            <a:endParaRPr lang="it-IT" sz="1200" b="0" u="none" strike="noStrike">
              <a:solidFill>
                <a:srgbClr val="5B277D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2016000" y="3384000"/>
            <a:ext cx="208656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Variance explained by each factor within each omics</a:t>
            </a:r>
            <a:endParaRPr lang="it-IT" sz="1200" b="0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900000" y="4428000"/>
            <a:ext cx="349056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0" u="none" strike="noStrike">
                <a:solidFill>
                  <a:srgbClr val="FF8000"/>
                </a:solidFill>
                <a:effectLst/>
                <a:uFillTx/>
                <a:latin typeface="Arial"/>
                <a:ea typeface="DejaVu Sans"/>
              </a:rPr>
              <a:t>P.adjusted value of the “discriminantion” power of each factor among the two conditions</a:t>
            </a:r>
            <a:endParaRPr lang="it-IT" sz="1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 flipH="1" flipV="1">
            <a:off x="4248000" y="4644000"/>
            <a:ext cx="360000" cy="216000"/>
          </a:xfrm>
          <a:prstGeom prst="line">
            <a:avLst/>
          </a:prstGeom>
          <a:ln w="0">
            <a:solidFill>
              <a:srgbClr val="FF8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 flipH="1" flipV="1">
            <a:off x="3960000" y="3780000"/>
            <a:ext cx="648000" cy="576000"/>
          </a:xfrm>
          <a:prstGeom prst="line">
            <a:avLst/>
          </a:prstGeom>
          <a:ln w="0">
            <a:solidFill>
              <a:srgbClr val="FF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 flipH="1" flipV="1">
            <a:off x="3960000" y="2880000"/>
            <a:ext cx="648000" cy="1152000"/>
          </a:xfrm>
          <a:prstGeom prst="line">
            <a:avLst/>
          </a:prstGeom>
          <a:ln w="0">
            <a:solidFill>
              <a:srgbClr val="5B277D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7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488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89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1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2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"/>
          <p:cNvSpPr/>
          <p:nvPr/>
        </p:nvSpPr>
        <p:spPr>
          <a:xfrm>
            <a:off x="2520000" y="1080000"/>
            <a:ext cx="756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Open output folder: Integration\OUTPUT\MOFA_mutated_vs_unmutated_10_factors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4" name=""/>
          <p:cNvPicPr/>
          <p:nvPr/>
        </p:nvPicPr>
        <p:blipFill>
          <a:blip r:embed="rId4"/>
          <a:stretch/>
        </p:blipFill>
        <p:spPr>
          <a:xfrm>
            <a:off x="4641120" y="1566360"/>
            <a:ext cx="5258880" cy="347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"/>
          <p:cNvSpPr/>
          <p:nvPr/>
        </p:nvSpPr>
        <p:spPr>
          <a:xfrm>
            <a:off x="1260000" y="4932000"/>
            <a:ext cx="2988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1" u="none" strike="noStrike">
                <a:solidFill>
                  <a:srgbClr val="5B277D"/>
                </a:solidFill>
                <a:effectLst/>
                <a:uFillTx/>
                <a:latin typeface="Arial"/>
                <a:ea typeface="DejaVu Sans"/>
              </a:rPr>
              <a:t>Main pdf results including</a:t>
            </a:r>
            <a:endParaRPr lang="it-IT" sz="1200" b="1" u="none" strike="noStrike">
              <a:solidFill>
                <a:srgbClr val="5B277D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 flipH="1">
            <a:off x="3348000" y="4680000"/>
            <a:ext cx="1152000" cy="432000"/>
          </a:xfrm>
          <a:prstGeom prst="line">
            <a:avLst/>
          </a:prstGeom>
          <a:ln w="0">
            <a:solidFill>
              <a:srgbClr val="5B277D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7" name=""/>
          <p:cNvPicPr/>
          <p:nvPr/>
        </p:nvPicPr>
        <p:blipFill>
          <a:blip r:embed="rId5"/>
          <a:stretch/>
        </p:blipFill>
        <p:spPr>
          <a:xfrm>
            <a:off x="208440" y="1482120"/>
            <a:ext cx="2671560" cy="115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8" name=""/>
          <p:cNvPicPr/>
          <p:nvPr/>
        </p:nvPicPr>
        <p:blipFill>
          <a:blip r:embed="rId6"/>
          <a:stretch/>
        </p:blipFill>
        <p:spPr>
          <a:xfrm>
            <a:off x="180000" y="2910600"/>
            <a:ext cx="1472760" cy="130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9" name=""/>
          <p:cNvPicPr/>
          <p:nvPr/>
        </p:nvPicPr>
        <p:blipFill>
          <a:blip r:embed="rId7"/>
          <a:stretch/>
        </p:blipFill>
        <p:spPr>
          <a:xfrm>
            <a:off x="1800000" y="2952000"/>
            <a:ext cx="2841120" cy="12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"/>
          <p:cNvSpPr/>
          <p:nvPr/>
        </p:nvSpPr>
        <p:spPr>
          <a:xfrm>
            <a:off x="3096000" y="1764000"/>
            <a:ext cx="126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Sample distribution per omics</a:t>
            </a:r>
            <a:endParaRPr lang="it-IT" sz="10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180000" y="4392000"/>
            <a:ext cx="126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Factor co-correlation test</a:t>
            </a:r>
            <a:endParaRPr lang="it-IT" sz="10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2304000" y="4392000"/>
            <a:ext cx="2016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Variance explained per omics and factor</a:t>
            </a:r>
            <a:endParaRPr lang="it-IT" sz="10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grpSp>
        <p:nvGrpSpPr>
          <p:cNvPr id="503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504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05" name=""/>
            <p:cNvPicPr/>
            <p:nvPr/>
          </p:nvPicPr>
          <p:blipFill>
            <a:blip r:embed="rId8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7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8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"/>
          <p:cNvSpPr/>
          <p:nvPr/>
        </p:nvSpPr>
        <p:spPr>
          <a:xfrm>
            <a:off x="573120" y="3456000"/>
            <a:ext cx="345888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Violin plot factor separation per condition</a:t>
            </a:r>
            <a:endParaRPr lang="it-IT" sz="10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3600000" y="4320000"/>
            <a:ext cx="14400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Heatmap to features factor per omics</a:t>
            </a:r>
            <a:endParaRPr lang="it-IT" sz="10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pic>
        <p:nvPicPr>
          <p:cNvPr id="511" name=""/>
          <p:cNvPicPr/>
          <p:nvPr/>
        </p:nvPicPr>
        <p:blipFill>
          <a:blip r:embed="rId4"/>
          <a:stretch/>
        </p:blipFill>
        <p:spPr>
          <a:xfrm>
            <a:off x="180000" y="1548000"/>
            <a:ext cx="4179240" cy="187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2" name=""/>
          <p:cNvPicPr/>
          <p:nvPr/>
        </p:nvPicPr>
        <p:blipFill>
          <a:blip r:embed="rId5"/>
          <a:stretch/>
        </p:blipFill>
        <p:spPr>
          <a:xfrm>
            <a:off x="5065920" y="1080000"/>
            <a:ext cx="4474080" cy="200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3" name=""/>
          <p:cNvPicPr/>
          <p:nvPr/>
        </p:nvPicPr>
        <p:blipFill>
          <a:blip r:embed="rId6"/>
          <a:stretch/>
        </p:blipFill>
        <p:spPr>
          <a:xfrm>
            <a:off x="5040000" y="3099960"/>
            <a:ext cx="4708080" cy="212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4" name=""/>
          <p:cNvSpPr/>
          <p:nvPr/>
        </p:nvSpPr>
        <p:spPr>
          <a:xfrm rot="18641400">
            <a:off x="25560" y="2693160"/>
            <a:ext cx="540000" cy="1800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15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516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17" name=""/>
            <p:cNvPicPr/>
            <p:nvPr/>
          </p:nvPicPr>
          <p:blipFill>
            <a:blip r:embed="rId7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9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0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"/>
          <p:cNvSpPr/>
          <p:nvPr/>
        </p:nvSpPr>
        <p:spPr>
          <a:xfrm>
            <a:off x="2520000" y="1080000"/>
            <a:ext cx="756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Open output folder: Integration\OUTPUT\MOFA_mutated_vs_unmutated_10_factors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6984000" y="3744000"/>
            <a:ext cx="230400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Top contributor weights.</a:t>
            </a:r>
            <a:endParaRPr lang="it-IT" sz="10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1260000" y="4320000"/>
            <a:ext cx="41400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Top contributor discriminatory power per condition</a:t>
            </a:r>
            <a:endParaRPr lang="it-IT" sz="10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pic>
        <p:nvPicPr>
          <p:cNvPr id="524" name=""/>
          <p:cNvPicPr/>
          <p:nvPr/>
        </p:nvPicPr>
        <p:blipFill>
          <a:blip r:embed="rId4"/>
          <a:stretch/>
        </p:blipFill>
        <p:spPr>
          <a:xfrm>
            <a:off x="181800" y="1473840"/>
            <a:ext cx="5915880" cy="266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5" name=""/>
          <p:cNvPicPr/>
          <p:nvPr/>
        </p:nvPicPr>
        <p:blipFill>
          <a:blip r:embed="rId5"/>
          <a:stretch/>
        </p:blipFill>
        <p:spPr>
          <a:xfrm>
            <a:off x="6357240" y="1440000"/>
            <a:ext cx="3182760" cy="2225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26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527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28" name=""/>
            <p:cNvPicPr/>
            <p:nvPr/>
          </p:nvPicPr>
          <p:blipFill>
            <a:blip r:embed="rId6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0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1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"/>
          <p:cNvSpPr/>
          <p:nvPr/>
        </p:nvSpPr>
        <p:spPr>
          <a:xfrm>
            <a:off x="649080" y="1440000"/>
            <a:ext cx="223092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Nice, but what is behind factor 1?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3" name=""/>
          <p:cNvPicPr/>
          <p:nvPr/>
        </p:nvPicPr>
        <p:blipFill>
          <a:blip r:embed="rId4"/>
          <a:stretch/>
        </p:blipFill>
        <p:spPr>
          <a:xfrm>
            <a:off x="337680" y="2520000"/>
            <a:ext cx="7222320" cy="26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"/>
          <p:cNvSpPr/>
          <p:nvPr/>
        </p:nvSpPr>
        <p:spPr>
          <a:xfrm rot="101400">
            <a:off x="2877480" y="1627920"/>
            <a:ext cx="540000" cy="1800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3709440" y="1152000"/>
            <a:ext cx="2230920" cy="93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3 Level of interpretation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-Pubmed research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-Pathway analysis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-Clinical correlation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6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537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38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0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1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"/>
          <p:cNvSpPr/>
          <p:nvPr/>
        </p:nvSpPr>
        <p:spPr>
          <a:xfrm>
            <a:off x="649080" y="1440000"/>
            <a:ext cx="223092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Nice, but what is behind factor 1?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3" name=""/>
          <p:cNvPicPr/>
          <p:nvPr/>
        </p:nvPicPr>
        <p:blipFill>
          <a:blip r:embed="rId4"/>
          <a:stretch/>
        </p:blipFill>
        <p:spPr>
          <a:xfrm>
            <a:off x="337680" y="2520000"/>
            <a:ext cx="7222320" cy="26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"/>
          <p:cNvSpPr/>
          <p:nvPr/>
        </p:nvSpPr>
        <p:spPr>
          <a:xfrm rot="101400">
            <a:off x="2877480" y="1627920"/>
            <a:ext cx="540000" cy="1800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3709440" y="1152000"/>
            <a:ext cx="2230920" cy="93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3 Level of interpretation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-Pubmed research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-Pathway analysis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-Clinical correlation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7669080" y="3024000"/>
            <a:ext cx="2230920" cy="93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Re-run including Numeric and binary clinical data. These will be correlated and tested with the MOFA factors calculated.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Are they associated?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7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548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49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1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2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"/>
          <p:cNvSpPr/>
          <p:nvPr/>
        </p:nvSpPr>
        <p:spPr>
          <a:xfrm>
            <a:off x="649080" y="1188000"/>
            <a:ext cx="817092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Open:BiomiX2.5\Clinical_data\OUTPUT\Clinical_mutated_vs_unmutated_10_factors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 rot="1601400">
            <a:off x="4682160" y="1627920"/>
            <a:ext cx="540000" cy="1800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7669080" y="3024000"/>
            <a:ext cx="2230920" cy="93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Conclusion: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Factor 1 is directly associated to the IGHV mutation measurement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6" name=""/>
          <p:cNvPicPr/>
          <p:nvPr/>
        </p:nvPicPr>
        <p:blipFill>
          <a:blip r:embed="rId4"/>
          <a:stretch/>
        </p:blipFill>
        <p:spPr>
          <a:xfrm>
            <a:off x="3013920" y="2340000"/>
            <a:ext cx="4366080" cy="2148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57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558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59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1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2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3" name=""/>
          <p:cNvPicPr/>
          <p:nvPr/>
        </p:nvPicPr>
        <p:blipFill>
          <a:blip r:embed="rId4"/>
          <a:stretch/>
        </p:blipFill>
        <p:spPr>
          <a:xfrm>
            <a:off x="390240" y="2514960"/>
            <a:ext cx="4649760" cy="234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"/>
          <p:cNvSpPr/>
          <p:nvPr/>
        </p:nvSpPr>
        <p:spPr>
          <a:xfrm>
            <a:off x="5220000" y="5040000"/>
            <a:ext cx="48960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https://sagarsajeev.medium.com/business-logic-vulnerability-via-idor-6d510f1caea9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5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566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67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68" name=""/>
          <p:cNvSpPr txBox="1"/>
          <p:nvPr/>
        </p:nvSpPr>
        <p:spPr>
          <a:xfrm>
            <a:off x="4500000" y="1620000"/>
            <a:ext cx="5040000" cy="588960"/>
          </a:xfrm>
          <a:prstGeom prst="rect">
            <a:avLst/>
          </a:prstGeom>
        </p:spPr>
        <p:txBody>
          <a:bodyPr wrap="none" lIns="99720" tIns="56520" rIns="99720" bIns="56520" anchor="ctr" anchorCtr="1">
            <a:prstTxWarp prst="textPlain">
              <a:avLst>
                <a:gd name="adj" fmla="val 50031"/>
              </a:avLst>
            </a:prstTxWarp>
            <a:noAutofit/>
          </a:bodyPr>
          <a:p>
            <a:pPr>
              <a:lnSpc>
                <a:spcPct val="100000"/>
              </a:lnSpc>
            </a:pPr>
            <a:r>
              <a:rPr lang="it-IT" sz="2400" b="1" u="none" strike="noStrike">
                <a:ln cap="rnd" w="28800">
                  <a:solidFill>
                    <a:srgbClr val="FFFFFF"/>
                  </a:solidFill>
                  <a:round/>
                </a:ln>
                <a:gradFill rotWithShape="0">
                  <a:gsLst>
                    <a:gs pos="0">
                      <a:srgbClr val="333333"/>
                    </a:gs>
                    <a:gs pos="100000">
                      <a:srgbClr val="999999"/>
                    </a:gs>
                  </a:gsLst>
                  <a:lin ang="5400000"/>
                </a:gradFill>
                <a:effectLst>
                  <a:outerShdw dist="107932" dir="2700000" rotWithShape="0">
                    <a:srgbClr val="DDDDDD"/>
                  </a:outerShdw>
                </a:effectLst>
                <a:uFillTx/>
                <a:latin typeface="Cambria"/>
                <a:ea typeface="MS Gothic"/>
              </a:rPr>
              <a:t>DIABLO tutorial </a:t>
            </a:r>
            <a:endParaRPr lang="it-IT" sz="2400" b="1" u="none" strike="noStrike">
              <a:ln cap="rnd" w="28800">
                <a:solidFill>
                  <a:srgbClr val="FFFFFF"/>
                </a:solidFill>
                <a:round/>
              </a:ln>
              <a:gradFill rotWithShape="0">
                <a:gsLst>
                  <a:gs pos="0">
                    <a:srgbClr val="333333"/>
                  </a:gs>
                  <a:gs pos="100000">
                    <a:srgbClr val="999999"/>
                  </a:gs>
                </a:gsLst>
                <a:lin ang="5400000"/>
              </a:gradFill>
              <a:effectLst>
                <a:outerShdw dist="107932" dir="2700000" rotWithShape="0">
                  <a:srgbClr val="DDDDDD"/>
                </a:outerShdw>
              </a:effectLst>
              <a:uFillTx/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0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1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2" name=""/>
          <p:cNvPicPr/>
          <p:nvPr/>
        </p:nvPicPr>
        <p:blipFill>
          <a:blip r:embed="rId4"/>
          <a:srcRect l="0" t="0" r="0" b="56392"/>
          <a:stretch/>
        </p:blipFill>
        <p:spPr>
          <a:xfrm>
            <a:off x="360000" y="3018960"/>
            <a:ext cx="7020000" cy="202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3" name=""/>
          <p:cNvSpPr/>
          <p:nvPr/>
        </p:nvSpPr>
        <p:spPr>
          <a:xfrm>
            <a:off x="7380000" y="3816000"/>
            <a:ext cx="22309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Advance option DIABLO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4" name=""/>
          <p:cNvPicPr/>
          <p:nvPr/>
        </p:nvPicPr>
        <p:blipFill>
          <a:blip r:embed="rId5"/>
          <a:stretch/>
        </p:blipFill>
        <p:spPr>
          <a:xfrm>
            <a:off x="540000" y="1186560"/>
            <a:ext cx="7808040" cy="169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5" name=""/>
          <p:cNvSpPr/>
          <p:nvPr/>
        </p:nvSpPr>
        <p:spPr>
          <a:xfrm>
            <a:off x="7380360" y="2916000"/>
            <a:ext cx="22309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Main interface DIABLO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7632360" y="2376000"/>
            <a:ext cx="183564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127622"/>
                </a:solidFill>
                <a:effectLst/>
                <a:uFillTx/>
                <a:latin typeface="Arial"/>
                <a:ea typeface="DejaVu Sans"/>
              </a:rPr>
              <a:t>Exclude samples with less than “” Omics shared</a:t>
            </a:r>
            <a:endParaRPr lang="en-US" sz="1000" b="0" u="none" strike="noStrike">
              <a:solidFill>
                <a:srgbClr val="127622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7560000" y="2160000"/>
            <a:ext cx="180000" cy="180000"/>
          </a:xfrm>
          <a:prstGeom prst="line">
            <a:avLst/>
          </a:prstGeom>
          <a:ln w="0">
            <a:solidFill>
              <a:srgbClr val="127622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3888720" y="2376000"/>
            <a:ext cx="24112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2A6099"/>
                </a:solidFill>
                <a:effectLst/>
                <a:uFillTx/>
                <a:latin typeface="Arial"/>
                <a:ea typeface="DejaVu Sans"/>
              </a:rPr>
              <a:t>Number of factors to calculate. When 0 activates the automatic selection</a:t>
            </a:r>
            <a:endParaRPr lang="en-US" sz="1000" b="0" u="none" strike="noStrike">
              <a:solidFill>
                <a:srgbClr val="2A6099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 flipH="1">
            <a:off x="5040000" y="2160000"/>
            <a:ext cx="216000" cy="216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80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581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82" name=""/>
            <p:cNvPicPr/>
            <p:nvPr/>
          </p:nvPicPr>
          <p:blipFill>
            <a:blip r:embed="rId6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4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5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6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587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88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589" name=""/>
          <p:cNvPicPr/>
          <p:nvPr/>
        </p:nvPicPr>
        <p:blipFill>
          <a:blip r:embed="rId5"/>
          <a:stretch/>
        </p:blipFill>
        <p:spPr>
          <a:xfrm>
            <a:off x="180000" y="1874880"/>
            <a:ext cx="7222320" cy="26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"/>
          <p:cNvSpPr/>
          <p:nvPr/>
        </p:nvSpPr>
        <p:spPr>
          <a:xfrm>
            <a:off x="6660000" y="3240000"/>
            <a:ext cx="270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Don’t forget the Clinical data for the interpretation!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2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3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"/>
          <p:cNvSpPr/>
          <p:nvPr/>
        </p:nvSpPr>
        <p:spPr>
          <a:xfrm>
            <a:off x="2340000" y="1080000"/>
            <a:ext cx="774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Open output folder: Integration\OUTPUT\DIABLO_mutated_vs_unmutated_10_factors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4140000" y="3780000"/>
            <a:ext cx="360000" cy="1008000"/>
          </a:xfrm>
          <a:custGeom>
            <a:avLst/>
            <a:gdLst>
              <a:gd name="textAreaLeft" fmla="*/ 230040 w 360000"/>
              <a:gd name="textAreaRight" fmla="*/ 360360 w 360000"/>
              <a:gd name="textAreaTop" fmla="*/ 26280 h 1008000"/>
              <a:gd name="textAreaBottom" fmla="*/ 981720 h 10080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793440" y="4140000"/>
            <a:ext cx="316656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0" u="none" strike="noStrike">
                <a:solidFill>
                  <a:srgbClr val="5B277D"/>
                </a:solidFill>
                <a:effectLst/>
                <a:uFillTx/>
                <a:latin typeface="Arial"/>
                <a:ea typeface="DejaVu Sans"/>
              </a:rPr>
              <a:t>Each omics has the positive and negative contributors for the “discriminating” factors</a:t>
            </a:r>
            <a:endParaRPr lang="it-IT" sz="1200" b="0" u="none" strike="noStrike">
              <a:solidFill>
                <a:srgbClr val="5B277D"/>
              </a:solidFill>
              <a:effectLst/>
              <a:uFillTx/>
              <a:latin typeface="Arial"/>
            </a:endParaRPr>
          </a:p>
        </p:txBody>
      </p:sp>
      <p:pic>
        <p:nvPicPr>
          <p:cNvPr id="597" name=""/>
          <p:cNvPicPr/>
          <p:nvPr/>
        </p:nvPicPr>
        <p:blipFill>
          <a:blip r:embed="rId4"/>
          <a:stretch/>
        </p:blipFill>
        <p:spPr>
          <a:xfrm>
            <a:off x="540000" y="2072880"/>
            <a:ext cx="2217600" cy="152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"/>
          <p:cNvSpPr/>
          <p:nvPr/>
        </p:nvSpPr>
        <p:spPr>
          <a:xfrm>
            <a:off x="597600" y="1800000"/>
            <a:ext cx="126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0" u="none" strike="noStrike">
                <a:solidFill>
                  <a:srgbClr val="5B277D"/>
                </a:solidFill>
                <a:effectLst/>
                <a:uFillTx/>
                <a:latin typeface="Arial"/>
                <a:ea typeface="DejaVu Sans"/>
              </a:rPr>
              <a:t>Example:</a:t>
            </a:r>
            <a:endParaRPr lang="it-IT" sz="1200" b="0" u="none" strike="noStrike">
              <a:solidFill>
                <a:srgbClr val="5B277D"/>
              </a:solidFill>
              <a:effectLst/>
              <a:uFillTx/>
              <a:latin typeface="Arial"/>
            </a:endParaRPr>
          </a:p>
        </p:txBody>
      </p:sp>
      <p:grpSp>
        <p:nvGrpSpPr>
          <p:cNvPr id="599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00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01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02" name=""/>
          <p:cNvPicPr/>
          <p:nvPr/>
        </p:nvPicPr>
        <p:blipFill>
          <a:blip r:embed="rId6"/>
          <a:stretch/>
        </p:blipFill>
        <p:spPr>
          <a:xfrm>
            <a:off x="4662720" y="1800000"/>
            <a:ext cx="5237280" cy="299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4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5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"/>
          <p:cNvSpPr/>
          <p:nvPr/>
        </p:nvSpPr>
        <p:spPr>
          <a:xfrm>
            <a:off x="2340000" y="1080000"/>
            <a:ext cx="774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Open output folder: Integration\OUTPUT\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DIABLO_mutated_vs_unmutated_10_factors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1332000" y="1692000"/>
            <a:ext cx="2988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0" u="none" strike="noStrike">
                <a:solidFill>
                  <a:srgbClr val="5B277D"/>
                </a:solidFill>
                <a:effectLst/>
                <a:uFillTx/>
                <a:latin typeface="Arial"/>
                <a:ea typeface="DejaVu Sans"/>
              </a:rPr>
              <a:t>Latent factor value (10 factors) per each sample. Dimensional reduction-like.</a:t>
            </a:r>
            <a:endParaRPr lang="it-IT" sz="1200" b="0" u="none" strike="noStrike">
              <a:solidFill>
                <a:srgbClr val="5B277D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2016000" y="2556000"/>
            <a:ext cx="208656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Variance explained by each factor within each omics</a:t>
            </a:r>
            <a:endParaRPr lang="it-IT" sz="1200" b="0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900000" y="3600000"/>
            <a:ext cx="349056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0" u="none" strike="noStrike">
                <a:solidFill>
                  <a:srgbClr val="FF8000"/>
                </a:solidFill>
                <a:effectLst/>
                <a:uFillTx/>
                <a:latin typeface="Arial"/>
                <a:ea typeface="DejaVu Sans"/>
              </a:rPr>
              <a:t>P.adjusted value of the “discriminantion” power of each factor among the two conditions</a:t>
            </a:r>
            <a:endParaRPr lang="it-IT" sz="1200" b="0" u="none" strike="noStrik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 flipH="1">
            <a:off x="4248000" y="3420000"/>
            <a:ext cx="432000" cy="396000"/>
          </a:xfrm>
          <a:prstGeom prst="line">
            <a:avLst/>
          </a:prstGeom>
          <a:ln w="0">
            <a:solidFill>
              <a:srgbClr val="FF8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 flipH="1">
            <a:off x="3960000" y="2952000"/>
            <a:ext cx="648000" cy="0"/>
          </a:xfrm>
          <a:prstGeom prst="line">
            <a:avLst/>
          </a:prstGeom>
          <a:ln w="0">
            <a:solidFill>
              <a:srgbClr val="FF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 flipH="1" flipV="1">
            <a:off x="3960000" y="2052000"/>
            <a:ext cx="648000" cy="648000"/>
          </a:xfrm>
          <a:prstGeom prst="line">
            <a:avLst/>
          </a:prstGeom>
          <a:ln w="0">
            <a:solidFill>
              <a:srgbClr val="5B277D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13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14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15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16" name=""/>
          <p:cNvPicPr/>
          <p:nvPr/>
        </p:nvPicPr>
        <p:blipFill>
          <a:blip r:embed="rId5"/>
          <a:stretch/>
        </p:blipFill>
        <p:spPr>
          <a:xfrm>
            <a:off x="4680000" y="1867320"/>
            <a:ext cx="5237280" cy="299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8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9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0" name=""/>
          <p:cNvSpPr/>
          <p:nvPr/>
        </p:nvSpPr>
        <p:spPr>
          <a:xfrm>
            <a:off x="2340000" y="1080000"/>
            <a:ext cx="774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Open output folder: Integration\OUTPUT\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DIABLO_mutated_vs_unmutated_10_factors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2340000" y="1620000"/>
            <a:ext cx="216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200" b="1" u="none" strike="noStrike">
                <a:solidFill>
                  <a:srgbClr val="5B277D"/>
                </a:solidFill>
                <a:effectLst/>
                <a:uFillTx/>
                <a:latin typeface="Arial"/>
                <a:ea typeface="DejaVu Sans"/>
              </a:rPr>
              <a:t>Main pdf results including</a:t>
            </a:r>
            <a:endParaRPr lang="it-IT" sz="1200" b="1" u="none" strike="noStrike">
              <a:solidFill>
                <a:srgbClr val="5B277D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 flipH="1" flipV="1">
            <a:off x="4140000" y="1980000"/>
            <a:ext cx="360000" cy="720000"/>
          </a:xfrm>
          <a:prstGeom prst="line">
            <a:avLst/>
          </a:prstGeom>
          <a:ln w="0">
            <a:solidFill>
              <a:srgbClr val="5B277D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3" name=""/>
          <p:cNvPicPr/>
          <p:nvPr/>
        </p:nvPicPr>
        <p:blipFill>
          <a:blip r:embed="rId4"/>
          <a:stretch/>
        </p:blipFill>
        <p:spPr>
          <a:xfrm>
            <a:off x="208440" y="1950120"/>
            <a:ext cx="2671560" cy="115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4" name=""/>
          <p:cNvPicPr/>
          <p:nvPr/>
        </p:nvPicPr>
        <p:blipFill>
          <a:blip r:embed="rId5"/>
          <a:stretch/>
        </p:blipFill>
        <p:spPr>
          <a:xfrm>
            <a:off x="180000" y="3378600"/>
            <a:ext cx="1472760" cy="130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5" name=""/>
          <p:cNvPicPr/>
          <p:nvPr/>
        </p:nvPicPr>
        <p:blipFill>
          <a:blip r:embed="rId6"/>
          <a:stretch/>
        </p:blipFill>
        <p:spPr>
          <a:xfrm>
            <a:off x="1800000" y="3420000"/>
            <a:ext cx="2841120" cy="12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6" name=""/>
          <p:cNvSpPr/>
          <p:nvPr/>
        </p:nvSpPr>
        <p:spPr>
          <a:xfrm>
            <a:off x="2880000" y="2304000"/>
            <a:ext cx="126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Sample distribution per omics</a:t>
            </a:r>
            <a:endParaRPr lang="it-IT" sz="10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180000" y="4860000"/>
            <a:ext cx="1260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Factor co-correlation test</a:t>
            </a:r>
            <a:endParaRPr lang="it-IT" sz="10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2304000" y="4860000"/>
            <a:ext cx="20160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it-IT" sz="10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Variance explained per omics and factor</a:t>
            </a:r>
            <a:endParaRPr lang="it-IT" sz="1000" b="0" u="none" strike="noStrike">
              <a:solidFill>
                <a:srgbClr val="03005B"/>
              </a:solidFill>
              <a:effectLst/>
              <a:uFillTx/>
              <a:latin typeface="Arial"/>
            </a:endParaRPr>
          </a:p>
        </p:txBody>
      </p:sp>
      <p:grpSp>
        <p:nvGrpSpPr>
          <p:cNvPr id="629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30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31" name=""/>
            <p:cNvPicPr/>
            <p:nvPr/>
          </p:nvPicPr>
          <p:blipFill>
            <a:blip r:embed="rId7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32" name=""/>
          <p:cNvPicPr/>
          <p:nvPr/>
        </p:nvPicPr>
        <p:blipFill>
          <a:blip r:embed="rId8"/>
          <a:stretch/>
        </p:blipFill>
        <p:spPr>
          <a:xfrm>
            <a:off x="4680000" y="1543680"/>
            <a:ext cx="5237280" cy="299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4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5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36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37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38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39" name=""/>
          <p:cNvPicPr/>
          <p:nvPr/>
        </p:nvPicPr>
        <p:blipFill>
          <a:blip r:embed="rId5"/>
          <a:stretch/>
        </p:blipFill>
        <p:spPr>
          <a:xfrm>
            <a:off x="180000" y="1295280"/>
            <a:ext cx="5623920" cy="374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"/>
          <p:cNvSpPr/>
          <p:nvPr/>
        </p:nvSpPr>
        <p:spPr>
          <a:xfrm>
            <a:off x="6300000" y="2880000"/>
            <a:ext cx="360000" cy="7200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7020000" y="3024000"/>
            <a:ext cx="2880360" cy="93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Factor 1 is discriminating patients by IGHV mutation measurement.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Which biological processes are behind it?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3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4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45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46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47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48" name=""/>
          <p:cNvSpPr/>
          <p:nvPr/>
        </p:nvSpPr>
        <p:spPr>
          <a:xfrm>
            <a:off x="180000" y="1080000"/>
            <a:ext cx="972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500" b="0" u="none" strike="noStrike">
                <a:solidFill>
                  <a:srgbClr val="C9211E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Open output folder: Integration\OUTPUT\</a:t>
            </a:r>
            <a:r>
              <a:rPr lang="it-IT" sz="15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DIABLO_mutated_vs_unmutated_10_factors\Factor_Pathways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9" name=""/>
          <p:cNvPicPr/>
          <p:nvPr/>
        </p:nvPicPr>
        <p:blipFill>
          <a:blip r:embed="rId5"/>
          <a:stretch/>
        </p:blipFill>
        <p:spPr>
          <a:xfrm>
            <a:off x="278280" y="3420000"/>
            <a:ext cx="692172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0" name=""/>
          <p:cNvPicPr/>
          <p:nvPr/>
        </p:nvPicPr>
        <p:blipFill>
          <a:blip r:embed="rId6"/>
          <a:stretch/>
        </p:blipFill>
        <p:spPr>
          <a:xfrm>
            <a:off x="263880" y="1428120"/>
            <a:ext cx="6936120" cy="181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"/>
          <p:cNvSpPr/>
          <p:nvPr/>
        </p:nvSpPr>
        <p:spPr>
          <a:xfrm>
            <a:off x="7197480" y="1764000"/>
            <a:ext cx="288036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Mutated patients are associated to higher values in factor 1 → Positive contributors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7200000" y="3600000"/>
            <a:ext cx="288036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1)</a:t>
            </a:r>
            <a:r>
              <a:rPr lang="en-US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 Unmutated patients are associated to Lower values in factor 1 → Negative contributors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4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5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56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57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58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59" name=""/>
          <p:cNvGrpSpPr/>
          <p:nvPr/>
        </p:nvGrpSpPr>
        <p:grpSpPr>
          <a:xfrm>
            <a:off x="3060000" y="1590480"/>
            <a:ext cx="6378120" cy="2189520"/>
            <a:chOff x="3060000" y="1590480"/>
            <a:chExt cx="6378120" cy="2189520"/>
          </a:xfrm>
        </p:grpSpPr>
        <p:sp>
          <p:nvSpPr>
            <p:cNvPr id="660" name=""/>
            <p:cNvSpPr txBox="1"/>
            <p:nvPr/>
          </p:nvSpPr>
          <p:spPr>
            <a:xfrm>
              <a:off x="4404600" y="1590480"/>
              <a:ext cx="3688920" cy="1105560"/>
            </a:xfrm>
            <a:prstGeom prst="rect">
              <a:avLst/>
            </a:prstGeom>
          </p:spPr>
          <p:txBody>
            <a:bodyPr wrap="none" lIns="93960" tIns="51120" rIns="93960" bIns="51120" anchor="ctr" anchorCtr="1">
              <a:prstTxWarp prst="textCurveUp">
                <a:avLst>
                  <a:gd name="adj" fmla="val 37553"/>
                </a:avLst>
              </a:prstTxWarp>
              <a:noAutofit/>
            </a:bodyPr>
            <a:p>
              <a:pPr>
                <a:lnSpc>
                  <a:spcPct val="100000"/>
                </a:lnSpc>
              </a:pPr>
              <a:r>
                <a:rPr lang="it-IT" sz="2400" b="1" u="none" strike="noStrike">
                  <a:ln w="18000">
                    <a:solidFill>
                      <a:srgbClr val="800080"/>
                    </a:solidFill>
                    <a:miter/>
                  </a:ln>
                  <a:gradFill rotWithShape="0">
                    <a:gsLst>
                      <a:gs pos="0">
                        <a:srgbClr val="729FCF"/>
                      </a:gs>
                      <a:gs pos="100000">
                        <a:srgbClr val="FFFF38"/>
                      </a:gs>
                    </a:gsLst>
                    <a:lin ang="5400000"/>
                  </a:gradFill>
                  <a:effectLst>
                    <a:outerShdw dist="71785" dir="2700000" rotWithShape="0">
                      <a:srgbClr val="FFBF00"/>
                    </a:outerShdw>
                  </a:effectLst>
                  <a:uFillTx/>
                  <a:latin typeface="Noto Serif"/>
                  <a:ea typeface="Noto Serif CJK JP"/>
                </a:rPr>
                <a:t>SNF &amp; NEMO Tutorials</a:t>
              </a:r>
              <a:endParaRPr lang="it-IT" sz="2400" b="1" u="none" strike="noStrike">
                <a:ln w="18000">
                  <a:solidFill>
                    <a:srgbClr val="800080"/>
                  </a:solidFill>
                  <a:miter/>
                </a:ln>
                <a:gradFill rotWithShape="0">
                  <a:gsLst>
                    <a:gs pos="0">
                      <a:srgbClr val="729FCF"/>
                    </a:gs>
                    <a:gs pos="100000">
                      <a:srgbClr val="FFFF38"/>
                    </a:gs>
                  </a:gsLst>
                  <a:lin ang="5400000"/>
                </a:gradFill>
                <a:effectLst>
                  <a:outerShdw dist="71785" dir="2700000" rotWithShape="0">
                    <a:srgbClr val="FFBF00"/>
                  </a:outerShdw>
                </a:effectLst>
                <a:uFillTx/>
                <a:latin typeface="Noto Serif"/>
              </a:endParaRPr>
            </a:p>
          </p:txBody>
        </p:sp>
        <p:sp>
          <p:nvSpPr>
            <p:cNvPr id="661" name=""/>
            <p:cNvSpPr txBox="1"/>
            <p:nvPr/>
          </p:nvSpPr>
          <p:spPr>
            <a:xfrm>
              <a:off x="3060000" y="2876040"/>
              <a:ext cx="6378120" cy="903960"/>
            </a:xfrm>
            <a:prstGeom prst="rect">
              <a:avLst/>
            </a:prstGeom>
          </p:spPr>
          <p:txBody>
            <a:bodyPr wrap="none" lIns="93960" tIns="51120" rIns="93960" bIns="51120" anchor="ctr" anchorCtr="1">
              <a:prstTxWarp prst="textCurveUp">
                <a:avLst>
                  <a:gd name="adj" fmla="val 25637"/>
                </a:avLst>
              </a:prstTxWarp>
              <a:noAutofit/>
            </a:bodyPr>
            <a:p>
              <a:pPr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it-IT" sz="2400" b="1" u="none" strike="noStrike">
                  <a:ln w="18000">
                    <a:solidFill>
                      <a:srgbClr val="800080"/>
                    </a:solidFill>
                    <a:miter/>
                  </a:ln>
                  <a:gradFill rotWithShape="0">
                    <a:gsLst>
                      <a:gs pos="0">
                        <a:srgbClr val="5983B0"/>
                      </a:gs>
                      <a:gs pos="100000">
                        <a:srgbClr val="FFFF38"/>
                      </a:gs>
                    </a:gsLst>
                    <a:lin ang="5400000"/>
                  </a:gradFill>
                  <a:effectLst>
                    <a:outerShdw dist="71785" dir="2700000" rotWithShape="0">
                      <a:srgbClr val="FFBF00"/>
                    </a:outerShdw>
                  </a:effectLst>
                  <a:uFillTx/>
                  <a:latin typeface="Noto Serif"/>
                  <a:ea typeface="Noto Serif CJK JP"/>
                </a:rPr>
                <a:t>Network-based multi-omics approaches </a:t>
              </a:r>
              <a:endParaRPr lang="it-IT" sz="2400" b="1" u="none" strike="noStrike">
                <a:ln w="18000">
                  <a:solidFill>
                    <a:srgbClr val="800080"/>
                  </a:solidFill>
                  <a:miter/>
                </a:ln>
                <a:gradFill rotWithShape="0">
                  <a:gsLst>
                    <a:gs pos="0">
                      <a:srgbClr val="5983B0"/>
                    </a:gs>
                    <a:gs pos="100000">
                      <a:srgbClr val="FFFF38"/>
                    </a:gs>
                  </a:gsLst>
                  <a:lin ang="5400000"/>
                </a:gradFill>
                <a:effectLst>
                  <a:outerShdw dist="71785" dir="2700000" rotWithShape="0">
                    <a:srgbClr val="FFBF00"/>
                  </a:outerShdw>
                </a:effectLst>
                <a:uFillTx/>
                <a:latin typeface="Noto Serif"/>
              </a:endParaRPr>
            </a:p>
          </p:txBody>
        </p:sp>
      </p:grpSp>
      <p:sp>
        <p:nvSpPr>
          <p:cNvPr id="662" name=""/>
          <p:cNvSpPr txBox="1"/>
          <p:nvPr/>
        </p:nvSpPr>
        <p:spPr>
          <a:xfrm>
            <a:off x="360000" y="1540440"/>
            <a:ext cx="2340000" cy="2599560"/>
          </a:xfrm>
          <a:prstGeom prst="rect">
            <a:avLst/>
          </a:prstGeom>
          <a:blipFill rotWithShape="0">
            <a:blip r:embed="rId5"/>
            <a:srcRect l="25066" t="29893" r="44859" b="26971"/>
            <a:stretch/>
          </a:blip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algn="ctr"/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4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5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66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67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68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69" name=""/>
          <p:cNvSpPr txBox="1"/>
          <p:nvPr/>
        </p:nvSpPr>
        <p:spPr>
          <a:xfrm>
            <a:off x="360000" y="1260000"/>
            <a:ext cx="8820000" cy="36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DATASET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Tutorial will use the </a:t>
            </a:r>
            <a:r>
              <a:rPr lang="it-IT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Chronic Lymphocytic Leukemia (CLL)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cohort (ID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EGAS00001001746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):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EGAS00001001746_</a:t>
            </a:r>
            <a:r>
              <a:rPr lang="it-IT" sz="1400" b="1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metadata</a:t>
            </a:r>
            <a:r>
              <a:rPr lang="it-IT" sz="1400" b="0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_CLL.tsv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: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metadata table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having ID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Aptos Narrow"/>
              </a:rPr>
              <a:t>, 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DISEASE, AGE, GENDER, CONDITION, Treated, Alive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EGAS00001001746_</a:t>
            </a:r>
            <a:r>
              <a:rPr lang="it-IT" sz="1400" b="1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methylomics</a:t>
            </a:r>
            <a:r>
              <a:rPr lang="it-IT" sz="1400" b="0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.tsv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: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methylomic CpG sites (Illumina 450K array) profiles of the top-5000 most variant sites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EGAS00001001746_</a:t>
            </a:r>
            <a:r>
              <a:rPr lang="it-IT" sz="1400" b="1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transcriptomics</a:t>
            </a:r>
            <a:r>
              <a:rPr lang="it-IT" sz="1400" b="0" i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_VST.tsv: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transcriptomic (RNA-seq) profiles of 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Arial"/>
              </a:rPr>
              <a:t>≈ 54500 transcripts after VST (variance-stabilizing transformation)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Arial"/>
              </a:rPr>
              <a:t>CONDITION: IGHV-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Arial"/>
              </a:rPr>
              <a:t>mutated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Arial"/>
              </a:rPr>
              <a:t> (M-CLL) and IGHV-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Arial"/>
              </a:rPr>
              <a:t>unmutated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  <a:ea typeface="Arial"/>
              </a:rPr>
              <a:t> (U-CLL) chronic lymphocytic leukemia.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1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2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3" name=""/>
          <p:cNvSpPr/>
          <p:nvPr/>
        </p:nvSpPr>
        <p:spPr>
          <a:xfrm>
            <a:off x="180000" y="2221560"/>
            <a:ext cx="432000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Implemented interpretation methods SNF/NEMO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180000" y="1154160"/>
            <a:ext cx="4258800" cy="29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Number of clusters optimization SNF/NEMO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180000" y="1567080"/>
            <a:ext cx="64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Optimal number of clusters estimation: </a:t>
            </a:r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eigengap/modified eigegap method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Internal clustering </a:t>
            </a:r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validation metrics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 (i.e. </a:t>
            </a:r>
            <a:r>
              <a:rPr lang="it-IT" sz="1200" b="0" i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"Mean Silhouette Coefficient", "Dunn Index", "Entropy" and “Calinski and Harabasz Index”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180000" y="2570040"/>
            <a:ext cx="5400000" cy="264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- Similarities heatmap for single omics and integrated matrix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- Network (graph) for single omics and integrated network</a:t>
            </a:r>
            <a:br>
              <a:rPr sz="1200"/>
            </a:br>
            <a:br>
              <a:rPr sz="1200"/>
            </a:b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- E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xternal quality indices (i.e. ARI, AMI, NMI, NVI) if CONDITION (ground truth available)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Post-hoc feature prioritization based on NMI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Variables enrichment (chi-squared test for categorical, Kruskal-Wallis for continuous variables)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Survival analysis (log-rank test and Kaplan-Meier plots)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Alluvial plot comparing clustering, CONDITION (if any), variables of interest 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7" name=""/>
          <p:cNvPicPr/>
          <p:nvPr/>
        </p:nvPicPr>
        <p:blipFill>
          <a:blip r:embed="rId4"/>
          <a:stretch/>
        </p:blipFill>
        <p:spPr>
          <a:xfrm>
            <a:off x="5760000" y="2075040"/>
            <a:ext cx="4140000" cy="2760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78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79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80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2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3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84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85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86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87" name=""/>
          <p:cNvPicPr/>
          <p:nvPr/>
        </p:nvPicPr>
        <p:blipFill>
          <a:blip r:embed="rId5"/>
          <a:stretch/>
        </p:blipFill>
        <p:spPr>
          <a:xfrm>
            <a:off x="1544400" y="1080000"/>
            <a:ext cx="6991560" cy="41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9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0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91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692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93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94" name=""/>
          <p:cNvGrpSpPr/>
          <p:nvPr/>
        </p:nvGrpSpPr>
        <p:grpSpPr>
          <a:xfrm>
            <a:off x="960480" y="1800000"/>
            <a:ext cx="8159400" cy="2660400"/>
            <a:chOff x="960480" y="1800000"/>
            <a:chExt cx="8159400" cy="2660400"/>
          </a:xfrm>
        </p:grpSpPr>
        <p:pic>
          <p:nvPicPr>
            <p:cNvPr id="695" name=""/>
            <p:cNvPicPr/>
            <p:nvPr/>
          </p:nvPicPr>
          <p:blipFill>
            <a:blip r:embed="rId5"/>
            <a:stretch/>
          </p:blipFill>
          <p:spPr>
            <a:xfrm>
              <a:off x="960480" y="1800000"/>
              <a:ext cx="8159400" cy="2660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96" name=""/>
            <p:cNvSpPr/>
            <p:nvPr/>
          </p:nvSpPr>
          <p:spPr>
            <a:xfrm>
              <a:off x="5040000" y="2160000"/>
              <a:ext cx="3420000" cy="540000"/>
            </a:xfrm>
            <a:prstGeom prst="rect">
              <a:avLst/>
            </a:prstGeom>
            <a:noFill/>
            <a:ln w="360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63000" rIns="108000" bIns="630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7" name=""/>
            <p:cNvSpPr/>
            <p:nvPr/>
          </p:nvSpPr>
          <p:spPr>
            <a:xfrm>
              <a:off x="1047960" y="3955320"/>
              <a:ext cx="1260000" cy="414360"/>
            </a:xfrm>
            <a:prstGeom prst="rect">
              <a:avLst/>
            </a:prstGeom>
            <a:noFill/>
            <a:ln w="360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63000" rIns="108000" bIns="63000" anchor="ctr">
              <a:noAutofit/>
            </a:bodyPr>
            <a:p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"/>
          <p:cNvPicPr/>
          <p:nvPr/>
        </p:nvPicPr>
        <p:blipFill>
          <a:blip r:embed="rId1"/>
          <a:stretch/>
        </p:blipFill>
        <p:spPr>
          <a:xfrm>
            <a:off x="33840" y="1417680"/>
            <a:ext cx="7211880" cy="349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9" name=""/>
          <p:cNvPicPr/>
          <p:nvPr/>
        </p:nvPicPr>
        <p:blipFill>
          <a:blip r:embed="rId2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0" name=""/>
          <p:cNvPicPr/>
          <p:nvPr/>
        </p:nvPicPr>
        <p:blipFill>
          <a:blip r:embed="rId3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1" name=""/>
          <p:cNvPicPr/>
          <p:nvPr/>
        </p:nvPicPr>
        <p:blipFill>
          <a:blip r:embed="rId4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2" name=""/>
          <p:cNvSpPr/>
          <p:nvPr/>
        </p:nvSpPr>
        <p:spPr>
          <a:xfrm>
            <a:off x="7489080" y="1091520"/>
            <a:ext cx="22309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Advanced Options SNF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7380000" y="1506240"/>
            <a:ext cx="2593800" cy="378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Model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Number of nearest neighbours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Variance (controls decay of similarity with distance) 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Number of message-passing iterations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Interpretation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Column names for enrichment analysis</a:t>
            </a:r>
            <a:br>
              <a:rPr sz="1200"/>
            </a:b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Column names for survival analysis</a:t>
            </a:r>
            <a:br>
              <a:rPr sz="1200"/>
            </a:b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Condition column name (ground truth)</a:t>
            </a:r>
            <a:br>
              <a:rPr sz="1200"/>
            </a:br>
            <a:br>
              <a:rPr sz="1200"/>
            </a:br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Clustering and features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Number cluster 2:X to test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Number of variables to show in the heatmap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Number features selected by variance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Scaling (z-score)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4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705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06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07" name=""/>
          <p:cNvSpPr/>
          <p:nvPr/>
        </p:nvSpPr>
        <p:spPr>
          <a:xfrm>
            <a:off x="2092320" y="1670400"/>
            <a:ext cx="720000" cy="317160"/>
          </a:xfrm>
          <a:prstGeom prst="rect">
            <a:avLst/>
          </a:prstGeom>
          <a:noFill/>
          <a:ln w="18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>
            <a:off x="69480" y="2110680"/>
            <a:ext cx="5510520" cy="633240"/>
          </a:xfrm>
          <a:prstGeom prst="rect">
            <a:avLst/>
          </a:prstGeom>
          <a:noFill/>
          <a:ln w="18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73800" y="3553200"/>
            <a:ext cx="7209360" cy="1306800"/>
          </a:xfrm>
          <a:prstGeom prst="rect">
            <a:avLst/>
          </a:prstGeom>
          <a:noFill/>
          <a:ln w="18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1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2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13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714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15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16" name=""/>
          <p:cNvSpPr txBox="1"/>
          <p:nvPr/>
        </p:nvSpPr>
        <p:spPr>
          <a:xfrm>
            <a:off x="2790000" y="1620000"/>
            <a:ext cx="450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28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Let’s explore the results!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7" name=""/>
          <p:cNvPicPr/>
          <p:nvPr/>
        </p:nvPicPr>
        <p:blipFill>
          <a:blip r:embed="rId5"/>
          <a:stretch/>
        </p:blipFill>
        <p:spPr>
          <a:xfrm>
            <a:off x="2550960" y="2370960"/>
            <a:ext cx="4978440" cy="248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9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0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21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722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23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724" name=""/>
          <p:cNvPicPr/>
          <p:nvPr/>
        </p:nvPicPr>
        <p:blipFill>
          <a:blip r:embed="rId5"/>
          <a:stretch/>
        </p:blipFill>
        <p:spPr>
          <a:xfrm>
            <a:off x="720000" y="2144160"/>
            <a:ext cx="8127720" cy="181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5" name=""/>
          <p:cNvSpPr txBox="1"/>
          <p:nvPr/>
        </p:nvSpPr>
        <p:spPr>
          <a:xfrm>
            <a:off x="1170360" y="1440000"/>
            <a:ext cx="6749640" cy="6022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 anchorCtr="1">
            <a:spAutoFit/>
          </a:bodyPr>
          <a:p>
            <a:pPr algn="ctr"/>
            <a:r>
              <a:rPr lang="it-IT" sz="18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Switch in the main interface to NEMO in the “Integration Options”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it-IT" sz="18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(we can avoid single-omics analysis since already run for SNF)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"/>
          <p:cNvPicPr/>
          <p:nvPr/>
        </p:nvPicPr>
        <p:blipFill>
          <a:blip r:embed="rId1"/>
          <a:stretch/>
        </p:blipFill>
        <p:spPr>
          <a:xfrm>
            <a:off x="180000" y="1260000"/>
            <a:ext cx="7020000" cy="337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7" name=""/>
          <p:cNvPicPr/>
          <p:nvPr/>
        </p:nvPicPr>
        <p:blipFill>
          <a:blip r:embed="rId2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8" name=""/>
          <p:cNvPicPr/>
          <p:nvPr/>
        </p:nvPicPr>
        <p:blipFill>
          <a:blip r:embed="rId3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9" name=""/>
          <p:cNvPicPr/>
          <p:nvPr/>
        </p:nvPicPr>
        <p:blipFill>
          <a:blip r:embed="rId4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0" name=""/>
          <p:cNvSpPr/>
          <p:nvPr/>
        </p:nvSpPr>
        <p:spPr>
          <a:xfrm>
            <a:off x="7489080" y="1091520"/>
            <a:ext cx="241092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03005B"/>
                </a:solidFill>
                <a:effectLst/>
                <a:uFillTx/>
                <a:latin typeface="Arial"/>
                <a:ea typeface="DejaVu Sans"/>
              </a:rPr>
              <a:t>Advanced Options NEMO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76680" y="2700000"/>
            <a:ext cx="7132680" cy="1980000"/>
          </a:xfrm>
          <a:prstGeom prst="rect">
            <a:avLst/>
          </a:prstGeom>
          <a:noFill/>
          <a:ln w="1836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7380000" y="1506240"/>
            <a:ext cx="2520000" cy="361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Model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Number of nearest neighbours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Consider only samples having all omics available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Interpretation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Column names for enrichment analysis</a:t>
            </a:r>
            <a:br>
              <a:rPr sz="1200"/>
            </a:b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Column names for survival analysis</a:t>
            </a:r>
            <a:br>
              <a:rPr sz="1200"/>
            </a:b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Condition column name (ground truth)</a:t>
            </a:r>
            <a:br>
              <a:rPr sz="1200"/>
            </a:br>
            <a:br>
              <a:rPr sz="1200"/>
            </a:br>
            <a:r>
              <a:rPr lang="it-IT" sz="1200" b="1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Clustering and features</a:t>
            </a:r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: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Number cluster 2:X to test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Number of variables to show in the heatmap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Number features selected by variance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3005B"/>
                </a:solidFill>
                <a:effectLst/>
                <a:uFillTx/>
                <a:latin typeface="Arial"/>
                <a:ea typeface="Microsoft YaHei"/>
              </a:rPr>
              <a:t>- Scaling (z-score)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3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734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35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7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8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39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740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41" name=""/>
            <p:cNvPicPr/>
            <p:nvPr/>
          </p:nvPicPr>
          <p:blipFill>
            <a:blip r:embed="rId4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42" name=""/>
          <p:cNvSpPr txBox="1"/>
          <p:nvPr/>
        </p:nvSpPr>
        <p:spPr>
          <a:xfrm>
            <a:off x="2790000" y="1620000"/>
            <a:ext cx="450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it-IT" sz="28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Let’s explore the results!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3" name=""/>
          <p:cNvPicPr/>
          <p:nvPr/>
        </p:nvPicPr>
        <p:blipFill>
          <a:blip r:embed="rId5"/>
          <a:stretch/>
        </p:blipFill>
        <p:spPr>
          <a:xfrm>
            <a:off x="2550960" y="2370960"/>
            <a:ext cx="4978440" cy="248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"/>
          <p:cNvPicPr/>
          <p:nvPr/>
        </p:nvPicPr>
        <p:blipFill>
          <a:blip r:embed="rId1"/>
          <a:stretch/>
        </p:blipFill>
        <p:spPr>
          <a:xfrm>
            <a:off x="0" y="0"/>
            <a:ext cx="10077840" cy="56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5" name=""/>
          <p:cNvPicPr/>
          <p:nvPr/>
        </p:nvPicPr>
        <p:blipFill>
          <a:blip r:embed="rId2"/>
          <a:stretch/>
        </p:blipFill>
        <p:spPr>
          <a:xfrm>
            <a:off x="179640" y="100080"/>
            <a:ext cx="1865520" cy="79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6" name=""/>
          <p:cNvPicPr/>
          <p:nvPr/>
        </p:nvPicPr>
        <p:blipFill>
          <a:blip r:embed="rId3"/>
          <a:stretch/>
        </p:blipFill>
        <p:spPr>
          <a:xfrm>
            <a:off x="325080" y="289080"/>
            <a:ext cx="393480" cy="3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7" name=""/>
          <p:cNvSpPr txBox="1"/>
          <p:nvPr/>
        </p:nvSpPr>
        <p:spPr>
          <a:xfrm>
            <a:off x="268560" y="1127520"/>
            <a:ext cx="9540000" cy="373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it-IT" sz="20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Issues &amp; suggestions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BiomiX is an actively developed research project; if you encounter any problem or have suggestions, please open an issue on GitHub or contact the authors.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GitHub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issues page link: 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  <a:hlinkClick r:id="rId4"/>
              </a:rPr>
              <a:t>https://github.com/BiomiX-consortium/BiomiX2.5/issues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Authors contacts</a:t>
            </a:r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: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Cristian Iperi for issues with single-omics pipelines, MOFA, DIABLO, others: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cristian.iperi@uzh.ch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Jessica Gliozzo for issues with SNF and NEMO integration: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 jessica.gliozzo@istitutotumori.mi.it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400" b="0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Álvaro Fernández-Ochoa for issues with metabolomics pipeline: </a:t>
            </a:r>
            <a:r>
              <a:rPr lang="it-IT" sz="1400" b="1" u="none" strike="noStrike">
                <a:solidFill>
                  <a:srgbClr val="03005B"/>
                </a:solidFill>
                <a:effectLst/>
                <a:uFillTx/>
                <a:latin typeface="Arial"/>
              </a:rPr>
              <a:t>alvaroferochoa@ugr.es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236160" y="4788360"/>
            <a:ext cx="9572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presentation is licensed under the Creative Commons Attribution 4.0 International License (CC BY 4.0), except where otherwise noted.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Third-party material remains subject to its original copyright or license.</a:t>
            </a:r>
            <a:r>
              <a: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9" name=""/>
          <p:cNvGrpSpPr/>
          <p:nvPr/>
        </p:nvGrpSpPr>
        <p:grpSpPr>
          <a:xfrm>
            <a:off x="6660000" y="5348160"/>
            <a:ext cx="3420000" cy="232200"/>
            <a:chOff x="6660000" y="5348160"/>
            <a:chExt cx="3420000" cy="232200"/>
          </a:xfrm>
        </p:grpSpPr>
        <p:sp>
          <p:nvSpPr>
            <p:cNvPr id="750" name=""/>
            <p:cNvSpPr txBox="1"/>
            <p:nvPr/>
          </p:nvSpPr>
          <p:spPr>
            <a:xfrm>
              <a:off x="7020000" y="5348160"/>
              <a:ext cx="3060000" cy="232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it-IT" sz="1000" b="0" u="none" strike="noStrike">
                  <a:solidFill>
                    <a:srgbClr val="000000"/>
                  </a:solidFill>
                  <a:effectLst/>
                  <a:highlight>
                    <a:srgbClr val="FFFFFF"/>
                  </a:highlight>
                  <a:uFillTx/>
                  <a:latin typeface="Arial"/>
                </a:rPr>
                <a:t>2026 Cristian Iperi, Jessica Gliozzo — CC BY 4.0 </a:t>
              </a:r>
              <a:endParaRPr lang="it-IT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51" name=""/>
            <p:cNvPicPr/>
            <p:nvPr/>
          </p:nvPicPr>
          <p:blipFill>
            <a:blip r:embed="rId5"/>
            <a:stretch/>
          </p:blipFill>
          <p:spPr>
            <a:xfrm>
              <a:off x="6660000" y="5384880"/>
              <a:ext cx="442800" cy="158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2466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2026-06-24T07:47:26Z</dcterms:created>
  <dc:creator/>
  <dc:description/>
  <dc:language>it-IT</dc:language>
  <cp:lastModifiedBy/>
  <cp:lastPrinted>2026-06-24T16:59:24Z</cp:lastPrinted>
  <dcterms:modified xsi:type="dcterms:W3CDTF">2026-08-29T16:33:59Z</dcterms:modified>
  <cp:revision>175</cp:revision>
  <dc:subject/>
  <dc:title/>
</cp:coreProperties>
</file>